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10287000" cx="18288000"/>
  <p:notesSz cx="18288000" cy="10287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E27CAE-03BD-473D-A96F-C62E270E9B0F}">
  <a:tblStyle styleId="{0BE27CAE-03BD-473D-A96F-C62E270E9B0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6016518" y="147988"/>
            <a:ext cx="6254963" cy="10242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550">
                <a:solidFill>
                  <a:srgbClr val="FFF5D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914400" y="2366010"/>
            <a:ext cx="1645920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 name="Shape 18"/>
        <p:cNvGrpSpPr/>
        <p:nvPr/>
      </p:nvGrpSpPr>
      <p:grpSpPr>
        <a:xfrm>
          <a:off x="0" y="0"/>
          <a:ext cx="0" cy="0"/>
          <a:chOff x="0" y="0"/>
          <a:chExt cx="0" cy="0"/>
        </a:xfrm>
      </p:grpSpPr>
      <p:sp>
        <p:nvSpPr>
          <p:cNvPr id="19" name="Google Shape;19;p3"/>
          <p:cNvSpPr txBox="1"/>
          <p:nvPr>
            <p:ph type="title"/>
          </p:nvPr>
        </p:nvSpPr>
        <p:spPr>
          <a:xfrm>
            <a:off x="6016518" y="147988"/>
            <a:ext cx="6254963" cy="10242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550">
                <a:solidFill>
                  <a:srgbClr val="FFF5D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3" name="Shape 23"/>
        <p:cNvGrpSpPr/>
        <p:nvPr/>
      </p:nvGrpSpPr>
      <p:grpSpPr>
        <a:xfrm>
          <a:off x="0" y="0"/>
          <a:ext cx="0" cy="0"/>
          <a:chOff x="0" y="0"/>
          <a:chExt cx="0" cy="0"/>
        </a:xfrm>
      </p:grpSpPr>
      <p:sp>
        <p:nvSpPr>
          <p:cNvPr id="24" name="Google Shape;24;p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
        <p:nvSpPr>
          <p:cNvPr id="28" name="Google Shape;28;p5"/>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3" name="Shape 33"/>
        <p:cNvGrpSpPr/>
        <p:nvPr/>
      </p:nvGrpSpPr>
      <p:grpSpPr>
        <a:xfrm>
          <a:off x="0" y="0"/>
          <a:ext cx="0" cy="0"/>
          <a:chOff x="0" y="0"/>
          <a:chExt cx="0" cy="0"/>
        </a:xfrm>
      </p:grpSpPr>
      <p:sp>
        <p:nvSpPr>
          <p:cNvPr id="34" name="Google Shape;34;p6"/>
          <p:cNvSpPr txBox="1"/>
          <p:nvPr>
            <p:ph type="title"/>
          </p:nvPr>
        </p:nvSpPr>
        <p:spPr>
          <a:xfrm>
            <a:off x="6016518" y="147988"/>
            <a:ext cx="6254963" cy="102425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6550">
                <a:solidFill>
                  <a:srgbClr val="FFF5D5"/>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6"/>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6"/>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solidFill>
            <a:srgbClr val="25384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 name="Google Shape;7;p1"/>
          <p:cNvSpPr txBox="1"/>
          <p:nvPr>
            <p:ph type="title"/>
          </p:nvPr>
        </p:nvSpPr>
        <p:spPr>
          <a:xfrm>
            <a:off x="6016518" y="147988"/>
            <a:ext cx="6254963" cy="102425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6550" u="none" cap="none" strike="noStrike">
                <a:solidFill>
                  <a:srgbClr val="FFF5D5"/>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914400" y="2366010"/>
            <a:ext cx="16459200" cy="678942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defRPr>
            </a:lvl1pPr>
            <a:lvl2pPr indent="0" lvl="1" marL="0" marR="0" rtl="0" algn="r">
              <a:spcBef>
                <a:spcPts val="0"/>
              </a:spcBef>
              <a:buNone/>
              <a:defRPr sz="1800">
                <a:solidFill>
                  <a:srgbClr val="888888"/>
                </a:solidFill>
              </a:defRPr>
            </a:lvl2pPr>
            <a:lvl3pPr indent="0" lvl="2" marL="0" marR="0" rtl="0" algn="r">
              <a:spcBef>
                <a:spcPts val="0"/>
              </a:spcBef>
              <a:buNone/>
              <a:defRPr sz="1800">
                <a:solidFill>
                  <a:srgbClr val="888888"/>
                </a:solidFill>
              </a:defRPr>
            </a:lvl3pPr>
            <a:lvl4pPr indent="0" lvl="3" marL="0" marR="0" rtl="0" algn="r">
              <a:spcBef>
                <a:spcPts val="0"/>
              </a:spcBef>
              <a:buNone/>
              <a:defRPr sz="1800">
                <a:solidFill>
                  <a:srgbClr val="888888"/>
                </a:solidFill>
              </a:defRPr>
            </a:lvl4pPr>
            <a:lvl5pPr indent="0" lvl="4" marL="0" marR="0" rtl="0" algn="r">
              <a:spcBef>
                <a:spcPts val="0"/>
              </a:spcBef>
              <a:buNone/>
              <a:defRPr sz="1800">
                <a:solidFill>
                  <a:srgbClr val="888888"/>
                </a:solidFill>
              </a:defRPr>
            </a:lvl5pPr>
            <a:lvl6pPr indent="0" lvl="5" marL="0" marR="0" rtl="0" algn="r">
              <a:spcBef>
                <a:spcPts val="0"/>
              </a:spcBef>
              <a:buNone/>
              <a:defRPr sz="1800">
                <a:solidFill>
                  <a:srgbClr val="888888"/>
                </a:solidFill>
              </a:defRPr>
            </a:lvl6pPr>
            <a:lvl7pPr indent="0" lvl="6" marL="0" marR="0" rtl="0" algn="r">
              <a:spcBef>
                <a:spcPts val="0"/>
              </a:spcBef>
              <a:buNone/>
              <a:defRPr sz="1800">
                <a:solidFill>
                  <a:srgbClr val="888888"/>
                </a:solidFill>
              </a:defRPr>
            </a:lvl7pPr>
            <a:lvl8pPr indent="0" lvl="7" marL="0" marR="0" rtl="0" algn="r">
              <a:spcBef>
                <a:spcPts val="0"/>
              </a:spcBef>
              <a:buNone/>
              <a:defRPr sz="1800">
                <a:solidFill>
                  <a:srgbClr val="888888"/>
                </a:solidFill>
              </a:defRPr>
            </a:lvl8pPr>
            <a:lvl9pPr indent="0" lvl="8" marL="0" marR="0" rtl="0"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www.upwork.com/resources/what-is-content-based-" TargetMode="External"/><Relationship Id="rId4" Type="http://schemas.openxmlformats.org/officeDocument/2006/relationships/hyperlink" Target="http://www.youtube.com/wat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7"/>
          <p:cNvGrpSpPr/>
          <p:nvPr/>
        </p:nvGrpSpPr>
        <p:grpSpPr>
          <a:xfrm>
            <a:off x="0" y="0"/>
            <a:ext cx="18287999" cy="10286989"/>
            <a:chOff x="0" y="0"/>
            <a:chExt cx="18287999" cy="10286989"/>
          </a:xfrm>
        </p:grpSpPr>
        <p:sp>
          <p:nvSpPr>
            <p:cNvPr id="45" name="Google Shape;45;p7"/>
            <p:cNvSpPr/>
            <p:nvPr/>
          </p:nvSpPr>
          <p:spPr>
            <a:xfrm>
              <a:off x="0" y="7911967"/>
              <a:ext cx="18287999" cy="237502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 name="Google Shape;46;p7"/>
            <p:cNvSpPr/>
            <p:nvPr/>
          </p:nvSpPr>
          <p:spPr>
            <a:xfrm>
              <a:off x="0" y="0"/>
              <a:ext cx="4910724" cy="8544915"/>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7" name="Google Shape;47;p7"/>
            <p:cNvSpPr/>
            <p:nvPr/>
          </p:nvSpPr>
          <p:spPr>
            <a:xfrm>
              <a:off x="4394011" y="3936837"/>
              <a:ext cx="3979545" cy="3962400"/>
            </a:xfrm>
            <a:custGeom>
              <a:rect b="b" l="l" r="r" t="t"/>
              <a:pathLst>
                <a:path extrusionOk="0" h="3962400" w="3979545">
                  <a:moveTo>
                    <a:pt x="3090466" y="406399"/>
                  </a:moveTo>
                  <a:lnTo>
                    <a:pt x="891989" y="406399"/>
                  </a:lnTo>
                  <a:lnTo>
                    <a:pt x="941248" y="393699"/>
                  </a:lnTo>
                  <a:lnTo>
                    <a:pt x="988331" y="380999"/>
                  </a:lnTo>
                  <a:lnTo>
                    <a:pt x="1032881" y="368299"/>
                  </a:lnTo>
                  <a:lnTo>
                    <a:pt x="1074539" y="342899"/>
                  </a:lnTo>
                  <a:lnTo>
                    <a:pt x="1112948" y="304799"/>
                  </a:lnTo>
                  <a:lnTo>
                    <a:pt x="1147750" y="279399"/>
                  </a:lnTo>
                  <a:lnTo>
                    <a:pt x="1178587" y="241299"/>
                  </a:lnTo>
                  <a:lnTo>
                    <a:pt x="1231619" y="165099"/>
                  </a:lnTo>
                  <a:lnTo>
                    <a:pt x="1262458" y="126999"/>
                  </a:lnTo>
                  <a:lnTo>
                    <a:pt x="1297260" y="88899"/>
                  </a:lnTo>
                  <a:lnTo>
                    <a:pt x="1335668" y="63499"/>
                  </a:lnTo>
                  <a:lnTo>
                    <a:pt x="1377325" y="38099"/>
                  </a:lnTo>
                  <a:lnTo>
                    <a:pt x="1421874" y="12699"/>
                  </a:lnTo>
                  <a:lnTo>
                    <a:pt x="1468958" y="0"/>
                  </a:lnTo>
                  <a:lnTo>
                    <a:pt x="1679838" y="0"/>
                  </a:lnTo>
                  <a:lnTo>
                    <a:pt x="1732132" y="25399"/>
                  </a:lnTo>
                  <a:lnTo>
                    <a:pt x="1782443" y="50799"/>
                  </a:lnTo>
                  <a:lnTo>
                    <a:pt x="1827992" y="63499"/>
                  </a:lnTo>
                  <a:lnTo>
                    <a:pt x="1874867" y="88899"/>
                  </a:lnTo>
                  <a:lnTo>
                    <a:pt x="1922592" y="101599"/>
                  </a:lnTo>
                  <a:lnTo>
                    <a:pt x="2693781" y="101599"/>
                  </a:lnTo>
                  <a:lnTo>
                    <a:pt x="2716654" y="126999"/>
                  </a:lnTo>
                  <a:lnTo>
                    <a:pt x="2747507" y="152399"/>
                  </a:lnTo>
                  <a:lnTo>
                    <a:pt x="2774473" y="203199"/>
                  </a:lnTo>
                  <a:lnTo>
                    <a:pt x="2802674" y="241299"/>
                  </a:lnTo>
                  <a:lnTo>
                    <a:pt x="2835080" y="279399"/>
                  </a:lnTo>
                  <a:lnTo>
                    <a:pt x="2871202" y="317499"/>
                  </a:lnTo>
                  <a:lnTo>
                    <a:pt x="2910551" y="342899"/>
                  </a:lnTo>
                  <a:lnTo>
                    <a:pt x="2952641" y="368299"/>
                  </a:lnTo>
                  <a:lnTo>
                    <a:pt x="2996982" y="380999"/>
                  </a:lnTo>
                  <a:lnTo>
                    <a:pt x="3090466" y="406399"/>
                  </a:lnTo>
                  <a:close/>
                </a:path>
                <a:path extrusionOk="0" h="3962400" w="3979545">
                  <a:moveTo>
                    <a:pt x="2693781" y="101599"/>
                  </a:moveTo>
                  <a:lnTo>
                    <a:pt x="2018682" y="101599"/>
                  </a:lnTo>
                  <a:lnTo>
                    <a:pt x="2066093" y="88899"/>
                  </a:lnTo>
                  <a:lnTo>
                    <a:pt x="2112445" y="88899"/>
                  </a:lnTo>
                  <a:lnTo>
                    <a:pt x="2157262" y="63499"/>
                  </a:lnTo>
                  <a:lnTo>
                    <a:pt x="2200065" y="50799"/>
                  </a:lnTo>
                  <a:lnTo>
                    <a:pt x="2243982" y="25399"/>
                  </a:lnTo>
                  <a:lnTo>
                    <a:pt x="2381614" y="0"/>
                  </a:lnTo>
                  <a:lnTo>
                    <a:pt x="2519168" y="0"/>
                  </a:lnTo>
                  <a:lnTo>
                    <a:pt x="2562992" y="12699"/>
                  </a:lnTo>
                  <a:lnTo>
                    <a:pt x="2605083" y="38099"/>
                  </a:lnTo>
                  <a:lnTo>
                    <a:pt x="2645011" y="63499"/>
                  </a:lnTo>
                  <a:lnTo>
                    <a:pt x="2682345" y="88899"/>
                  </a:lnTo>
                  <a:lnTo>
                    <a:pt x="2693781" y="101599"/>
                  </a:lnTo>
                  <a:close/>
                </a:path>
                <a:path extrusionOk="0" h="3962400" w="3979545">
                  <a:moveTo>
                    <a:pt x="3233759" y="3543299"/>
                  </a:moveTo>
                  <a:lnTo>
                    <a:pt x="744113" y="3543299"/>
                  </a:lnTo>
                  <a:lnTo>
                    <a:pt x="698715" y="3517899"/>
                  </a:lnTo>
                  <a:lnTo>
                    <a:pt x="655611" y="3505199"/>
                  </a:lnTo>
                  <a:lnTo>
                    <a:pt x="615114" y="3479799"/>
                  </a:lnTo>
                  <a:lnTo>
                    <a:pt x="577541" y="3454399"/>
                  </a:lnTo>
                  <a:lnTo>
                    <a:pt x="543207" y="3428999"/>
                  </a:lnTo>
                  <a:lnTo>
                    <a:pt x="512428" y="3390899"/>
                  </a:lnTo>
                  <a:lnTo>
                    <a:pt x="485518" y="3352799"/>
                  </a:lnTo>
                  <a:lnTo>
                    <a:pt x="462793" y="3314699"/>
                  </a:lnTo>
                  <a:lnTo>
                    <a:pt x="444569" y="3263899"/>
                  </a:lnTo>
                  <a:lnTo>
                    <a:pt x="431162" y="3225799"/>
                  </a:lnTo>
                  <a:lnTo>
                    <a:pt x="422886" y="3174999"/>
                  </a:lnTo>
                  <a:lnTo>
                    <a:pt x="420057" y="3124199"/>
                  </a:lnTo>
                  <a:lnTo>
                    <a:pt x="416987" y="3073399"/>
                  </a:lnTo>
                  <a:lnTo>
                    <a:pt x="408012" y="3022599"/>
                  </a:lnTo>
                  <a:lnTo>
                    <a:pt x="393491" y="2984499"/>
                  </a:lnTo>
                  <a:lnTo>
                    <a:pt x="373779" y="2933699"/>
                  </a:lnTo>
                  <a:lnTo>
                    <a:pt x="349235" y="2895599"/>
                  </a:lnTo>
                  <a:lnTo>
                    <a:pt x="320214" y="2857499"/>
                  </a:lnTo>
                  <a:lnTo>
                    <a:pt x="287074" y="2819399"/>
                  </a:lnTo>
                  <a:lnTo>
                    <a:pt x="250171" y="2793999"/>
                  </a:lnTo>
                  <a:lnTo>
                    <a:pt x="209862" y="2768599"/>
                  </a:lnTo>
                  <a:lnTo>
                    <a:pt x="168864" y="2730499"/>
                  </a:lnTo>
                  <a:lnTo>
                    <a:pt x="131973" y="2705099"/>
                  </a:lnTo>
                  <a:lnTo>
                    <a:pt x="99361" y="2666999"/>
                  </a:lnTo>
                  <a:lnTo>
                    <a:pt x="71143" y="2628899"/>
                  </a:lnTo>
                  <a:lnTo>
                    <a:pt x="47434" y="2590799"/>
                  </a:lnTo>
                  <a:lnTo>
                    <a:pt x="28350" y="2552699"/>
                  </a:lnTo>
                  <a:lnTo>
                    <a:pt x="14006" y="2514599"/>
                  </a:lnTo>
                  <a:lnTo>
                    <a:pt x="4517" y="2463799"/>
                  </a:lnTo>
                  <a:lnTo>
                    <a:pt x="0" y="2412999"/>
                  </a:lnTo>
                  <a:lnTo>
                    <a:pt x="568" y="2374899"/>
                  </a:lnTo>
                  <a:lnTo>
                    <a:pt x="6337" y="2324099"/>
                  </a:lnTo>
                  <a:lnTo>
                    <a:pt x="17423" y="2273299"/>
                  </a:lnTo>
                  <a:lnTo>
                    <a:pt x="56006" y="2184399"/>
                  </a:lnTo>
                  <a:lnTo>
                    <a:pt x="78889" y="2146299"/>
                  </a:lnTo>
                  <a:lnTo>
                    <a:pt x="95746" y="2095499"/>
                  </a:lnTo>
                  <a:lnTo>
                    <a:pt x="106710" y="2044699"/>
                  </a:lnTo>
                  <a:lnTo>
                    <a:pt x="111912" y="1993899"/>
                  </a:lnTo>
                  <a:lnTo>
                    <a:pt x="111483" y="1955799"/>
                  </a:lnTo>
                  <a:lnTo>
                    <a:pt x="105554" y="1904999"/>
                  </a:lnTo>
                  <a:lnTo>
                    <a:pt x="94258" y="1854199"/>
                  </a:lnTo>
                  <a:lnTo>
                    <a:pt x="77725" y="1816099"/>
                  </a:lnTo>
                  <a:lnTo>
                    <a:pt x="56086" y="1765299"/>
                  </a:lnTo>
                  <a:lnTo>
                    <a:pt x="34454" y="1727199"/>
                  </a:lnTo>
                  <a:lnTo>
                    <a:pt x="17908" y="1676399"/>
                  </a:lnTo>
                  <a:lnTo>
                    <a:pt x="6602" y="1638299"/>
                  </a:lnTo>
                  <a:lnTo>
                    <a:pt x="667" y="1587499"/>
                  </a:lnTo>
                  <a:lnTo>
                    <a:pt x="233" y="1536699"/>
                  </a:lnTo>
                  <a:lnTo>
                    <a:pt x="5432" y="1485899"/>
                  </a:lnTo>
                  <a:lnTo>
                    <a:pt x="16395" y="1435099"/>
                  </a:lnTo>
                  <a:lnTo>
                    <a:pt x="33251" y="1396999"/>
                  </a:lnTo>
                  <a:lnTo>
                    <a:pt x="56134" y="1346199"/>
                  </a:lnTo>
                  <a:lnTo>
                    <a:pt x="87381" y="1295399"/>
                  </a:lnTo>
                  <a:lnTo>
                    <a:pt x="123961" y="1257299"/>
                  </a:lnTo>
                  <a:lnTo>
                    <a:pt x="165873" y="1219199"/>
                  </a:lnTo>
                  <a:lnTo>
                    <a:pt x="213118" y="1193799"/>
                  </a:lnTo>
                  <a:lnTo>
                    <a:pt x="255198" y="1168399"/>
                  </a:lnTo>
                  <a:lnTo>
                    <a:pt x="292812" y="1130299"/>
                  </a:lnTo>
                  <a:lnTo>
                    <a:pt x="325833" y="1092199"/>
                  </a:lnTo>
                  <a:lnTo>
                    <a:pt x="354132" y="1054099"/>
                  </a:lnTo>
                  <a:lnTo>
                    <a:pt x="377581" y="1015999"/>
                  </a:lnTo>
                  <a:lnTo>
                    <a:pt x="396052" y="965199"/>
                  </a:lnTo>
                  <a:lnTo>
                    <a:pt x="409417" y="927099"/>
                  </a:lnTo>
                  <a:lnTo>
                    <a:pt x="417546" y="876299"/>
                  </a:lnTo>
                  <a:lnTo>
                    <a:pt x="420313" y="825499"/>
                  </a:lnTo>
                  <a:lnTo>
                    <a:pt x="420441" y="825499"/>
                  </a:lnTo>
                  <a:lnTo>
                    <a:pt x="423270" y="787399"/>
                  </a:lnTo>
                  <a:lnTo>
                    <a:pt x="431546" y="736599"/>
                  </a:lnTo>
                  <a:lnTo>
                    <a:pt x="444953" y="685799"/>
                  </a:lnTo>
                  <a:lnTo>
                    <a:pt x="463177" y="647699"/>
                  </a:lnTo>
                  <a:lnTo>
                    <a:pt x="485901" y="609599"/>
                  </a:lnTo>
                  <a:lnTo>
                    <a:pt x="512811" y="571499"/>
                  </a:lnTo>
                  <a:lnTo>
                    <a:pt x="543591" y="533399"/>
                  </a:lnTo>
                  <a:lnTo>
                    <a:pt x="577925" y="507999"/>
                  </a:lnTo>
                  <a:lnTo>
                    <a:pt x="615499" y="469899"/>
                  </a:lnTo>
                  <a:lnTo>
                    <a:pt x="655996" y="457199"/>
                  </a:lnTo>
                  <a:lnTo>
                    <a:pt x="699101" y="431799"/>
                  </a:lnTo>
                  <a:lnTo>
                    <a:pt x="744499" y="419099"/>
                  </a:lnTo>
                  <a:lnTo>
                    <a:pt x="791875" y="406399"/>
                  </a:lnTo>
                  <a:lnTo>
                    <a:pt x="3138602" y="406399"/>
                  </a:lnTo>
                  <a:lnTo>
                    <a:pt x="3186764" y="419099"/>
                  </a:lnTo>
                  <a:lnTo>
                    <a:pt x="3234139" y="419099"/>
                  </a:lnTo>
                  <a:lnTo>
                    <a:pt x="3280240" y="431799"/>
                  </a:lnTo>
                  <a:lnTo>
                    <a:pt x="3324579" y="457199"/>
                  </a:lnTo>
                  <a:lnTo>
                    <a:pt x="3366667" y="482599"/>
                  </a:lnTo>
                  <a:lnTo>
                    <a:pt x="3406015" y="507999"/>
                  </a:lnTo>
                  <a:lnTo>
                    <a:pt x="3442137" y="533399"/>
                  </a:lnTo>
                  <a:lnTo>
                    <a:pt x="3474544" y="571499"/>
                  </a:lnTo>
                  <a:lnTo>
                    <a:pt x="3502746" y="622299"/>
                  </a:lnTo>
                  <a:lnTo>
                    <a:pt x="3528089" y="673099"/>
                  </a:lnTo>
                  <a:lnTo>
                    <a:pt x="3545807" y="723899"/>
                  </a:lnTo>
                  <a:lnTo>
                    <a:pt x="3556085" y="774699"/>
                  </a:lnTo>
                  <a:lnTo>
                    <a:pt x="3559104" y="838199"/>
                  </a:lnTo>
                  <a:lnTo>
                    <a:pt x="3562552" y="888999"/>
                  </a:lnTo>
                  <a:lnTo>
                    <a:pt x="3571790" y="939799"/>
                  </a:lnTo>
                  <a:lnTo>
                    <a:pt x="3586469" y="977899"/>
                  </a:lnTo>
                  <a:lnTo>
                    <a:pt x="3606241" y="1028699"/>
                  </a:lnTo>
                  <a:lnTo>
                    <a:pt x="3630755" y="1066799"/>
                  </a:lnTo>
                  <a:lnTo>
                    <a:pt x="3659663" y="1104899"/>
                  </a:lnTo>
                  <a:lnTo>
                    <a:pt x="3692617" y="1142999"/>
                  </a:lnTo>
                  <a:lnTo>
                    <a:pt x="3729267" y="1168399"/>
                  </a:lnTo>
                  <a:lnTo>
                    <a:pt x="3769264" y="1193799"/>
                  </a:lnTo>
                  <a:lnTo>
                    <a:pt x="3810260" y="1219199"/>
                  </a:lnTo>
                  <a:lnTo>
                    <a:pt x="3847155" y="1257299"/>
                  </a:lnTo>
                  <a:lnTo>
                    <a:pt x="3879771" y="1282699"/>
                  </a:lnTo>
                  <a:lnTo>
                    <a:pt x="3907993" y="1320799"/>
                  </a:lnTo>
                  <a:lnTo>
                    <a:pt x="3931706" y="1358899"/>
                  </a:lnTo>
                  <a:lnTo>
                    <a:pt x="3965140" y="1447799"/>
                  </a:lnTo>
                  <a:lnTo>
                    <a:pt x="3974630" y="1498599"/>
                  </a:lnTo>
                  <a:lnTo>
                    <a:pt x="3979149" y="1536699"/>
                  </a:lnTo>
                  <a:lnTo>
                    <a:pt x="3978581" y="1587499"/>
                  </a:lnTo>
                  <a:lnTo>
                    <a:pt x="3972810" y="1638299"/>
                  </a:lnTo>
                  <a:lnTo>
                    <a:pt x="3961721" y="1676399"/>
                  </a:lnTo>
                  <a:lnTo>
                    <a:pt x="3945198" y="1727199"/>
                  </a:lnTo>
                  <a:lnTo>
                    <a:pt x="3923127" y="1765299"/>
                  </a:lnTo>
                  <a:lnTo>
                    <a:pt x="3900245" y="1816099"/>
                  </a:lnTo>
                  <a:lnTo>
                    <a:pt x="3883388" y="1866899"/>
                  </a:lnTo>
                  <a:lnTo>
                    <a:pt x="3872426" y="1904999"/>
                  </a:lnTo>
                  <a:lnTo>
                    <a:pt x="3867226" y="1955799"/>
                  </a:lnTo>
                  <a:lnTo>
                    <a:pt x="3867658" y="2006599"/>
                  </a:lnTo>
                  <a:lnTo>
                    <a:pt x="3873589" y="2057399"/>
                  </a:lnTo>
                  <a:lnTo>
                    <a:pt x="3884888" y="2095499"/>
                  </a:lnTo>
                  <a:lnTo>
                    <a:pt x="3901424" y="2146299"/>
                  </a:lnTo>
                  <a:lnTo>
                    <a:pt x="3923066" y="2184399"/>
                  </a:lnTo>
                  <a:lnTo>
                    <a:pt x="3944694" y="2235199"/>
                  </a:lnTo>
                  <a:lnTo>
                    <a:pt x="3961241" y="2273299"/>
                  </a:lnTo>
                  <a:lnTo>
                    <a:pt x="3972547" y="2324099"/>
                  </a:lnTo>
                  <a:lnTo>
                    <a:pt x="3978481" y="2374899"/>
                  </a:lnTo>
                  <a:lnTo>
                    <a:pt x="3978912" y="2425699"/>
                  </a:lnTo>
                  <a:lnTo>
                    <a:pt x="3973711" y="2463799"/>
                  </a:lnTo>
                  <a:lnTo>
                    <a:pt x="3962746" y="2514599"/>
                  </a:lnTo>
                  <a:lnTo>
                    <a:pt x="3945888" y="2565399"/>
                  </a:lnTo>
                  <a:lnTo>
                    <a:pt x="3923005" y="2616199"/>
                  </a:lnTo>
                  <a:lnTo>
                    <a:pt x="3896239" y="2654299"/>
                  </a:lnTo>
                  <a:lnTo>
                    <a:pt x="3865637" y="2692399"/>
                  </a:lnTo>
                  <a:lnTo>
                    <a:pt x="3831621" y="2717799"/>
                  </a:lnTo>
                  <a:lnTo>
                    <a:pt x="3794611" y="2743199"/>
                  </a:lnTo>
                  <a:lnTo>
                    <a:pt x="3755029" y="2768599"/>
                  </a:lnTo>
                  <a:lnTo>
                    <a:pt x="3715143" y="2806699"/>
                  </a:lnTo>
                  <a:lnTo>
                    <a:pt x="3679503" y="2832099"/>
                  </a:lnTo>
                  <a:lnTo>
                    <a:pt x="3648228" y="2870199"/>
                  </a:lnTo>
                  <a:lnTo>
                    <a:pt x="3621434" y="2908299"/>
                  </a:lnTo>
                  <a:lnTo>
                    <a:pt x="3599239" y="2946399"/>
                  </a:lnTo>
                  <a:lnTo>
                    <a:pt x="3581761" y="2984499"/>
                  </a:lnTo>
                  <a:lnTo>
                    <a:pt x="3569117" y="3035299"/>
                  </a:lnTo>
                  <a:lnTo>
                    <a:pt x="3561424" y="3086099"/>
                  </a:lnTo>
                  <a:lnTo>
                    <a:pt x="3558799" y="3124199"/>
                  </a:lnTo>
                  <a:lnTo>
                    <a:pt x="3555367" y="3174999"/>
                  </a:lnTo>
                  <a:lnTo>
                    <a:pt x="3544950" y="3238499"/>
                  </a:lnTo>
                  <a:lnTo>
                    <a:pt x="3527338" y="3289299"/>
                  </a:lnTo>
                  <a:lnTo>
                    <a:pt x="3502350" y="3340099"/>
                  </a:lnTo>
                  <a:lnTo>
                    <a:pt x="3474156" y="3378199"/>
                  </a:lnTo>
                  <a:lnTo>
                    <a:pt x="3441757" y="3416299"/>
                  </a:lnTo>
                  <a:lnTo>
                    <a:pt x="3405639" y="3454399"/>
                  </a:lnTo>
                  <a:lnTo>
                    <a:pt x="3366293" y="3479799"/>
                  </a:lnTo>
                  <a:lnTo>
                    <a:pt x="3324205" y="3505199"/>
                  </a:lnTo>
                  <a:lnTo>
                    <a:pt x="3279864" y="3517899"/>
                  </a:lnTo>
                  <a:lnTo>
                    <a:pt x="3233759" y="3543299"/>
                  </a:lnTo>
                  <a:close/>
                </a:path>
                <a:path extrusionOk="0" h="3962400" w="3979545">
                  <a:moveTo>
                    <a:pt x="3090075" y="3555999"/>
                  </a:moveTo>
                  <a:lnTo>
                    <a:pt x="891607" y="3555999"/>
                  </a:lnTo>
                  <a:lnTo>
                    <a:pt x="840523" y="3543299"/>
                  </a:lnTo>
                  <a:lnTo>
                    <a:pt x="3138236" y="3543299"/>
                  </a:lnTo>
                  <a:lnTo>
                    <a:pt x="3090075" y="3555999"/>
                  </a:lnTo>
                  <a:close/>
                </a:path>
                <a:path extrusionOk="0" h="3962400" w="3979545">
                  <a:moveTo>
                    <a:pt x="1625179" y="3962399"/>
                  </a:moveTo>
                  <a:lnTo>
                    <a:pt x="1468581" y="3962399"/>
                  </a:lnTo>
                  <a:lnTo>
                    <a:pt x="1421497" y="3936999"/>
                  </a:lnTo>
                  <a:lnTo>
                    <a:pt x="1376948" y="3924299"/>
                  </a:lnTo>
                  <a:lnTo>
                    <a:pt x="1335290" y="3898899"/>
                  </a:lnTo>
                  <a:lnTo>
                    <a:pt x="1296882" y="3873499"/>
                  </a:lnTo>
                  <a:lnTo>
                    <a:pt x="1262082" y="3835399"/>
                  </a:lnTo>
                  <a:lnTo>
                    <a:pt x="1231247" y="3797299"/>
                  </a:lnTo>
                  <a:lnTo>
                    <a:pt x="1178208" y="3721099"/>
                  </a:lnTo>
                  <a:lnTo>
                    <a:pt x="1147365" y="3682999"/>
                  </a:lnTo>
                  <a:lnTo>
                    <a:pt x="1112562" y="3644899"/>
                  </a:lnTo>
                  <a:lnTo>
                    <a:pt x="1074154" y="3619499"/>
                  </a:lnTo>
                  <a:lnTo>
                    <a:pt x="1032499" y="3594099"/>
                  </a:lnTo>
                  <a:lnTo>
                    <a:pt x="987951" y="3568699"/>
                  </a:lnTo>
                  <a:lnTo>
                    <a:pt x="940869" y="3555999"/>
                  </a:lnTo>
                  <a:lnTo>
                    <a:pt x="3042701" y="3555999"/>
                  </a:lnTo>
                  <a:lnTo>
                    <a:pt x="2996602" y="3568699"/>
                  </a:lnTo>
                  <a:lnTo>
                    <a:pt x="2952267" y="3594099"/>
                  </a:lnTo>
                  <a:lnTo>
                    <a:pt x="2910182" y="3619499"/>
                  </a:lnTo>
                  <a:lnTo>
                    <a:pt x="2870837" y="3644899"/>
                  </a:lnTo>
                  <a:lnTo>
                    <a:pt x="2834719" y="3682999"/>
                  </a:lnTo>
                  <a:lnTo>
                    <a:pt x="2802316" y="3721099"/>
                  </a:lnTo>
                  <a:lnTo>
                    <a:pt x="2774116" y="3759199"/>
                  </a:lnTo>
                  <a:lnTo>
                    <a:pt x="2747143" y="3797299"/>
                  </a:lnTo>
                  <a:lnTo>
                    <a:pt x="2716285" y="3835399"/>
                  </a:lnTo>
                  <a:lnTo>
                    <a:pt x="2693409" y="3860799"/>
                  </a:lnTo>
                  <a:lnTo>
                    <a:pt x="1922199" y="3860799"/>
                  </a:lnTo>
                  <a:lnTo>
                    <a:pt x="1827603" y="3886199"/>
                  </a:lnTo>
                  <a:lnTo>
                    <a:pt x="1782062" y="3911599"/>
                  </a:lnTo>
                  <a:lnTo>
                    <a:pt x="1731749" y="3936999"/>
                  </a:lnTo>
                  <a:lnTo>
                    <a:pt x="1625179" y="3962399"/>
                  </a:lnTo>
                  <a:close/>
                </a:path>
                <a:path extrusionOk="0" h="3962400" w="3979545">
                  <a:moveTo>
                    <a:pt x="2473656" y="3962399"/>
                  </a:moveTo>
                  <a:lnTo>
                    <a:pt x="2334780" y="3962399"/>
                  </a:lnTo>
                  <a:lnTo>
                    <a:pt x="2243592" y="3936999"/>
                  </a:lnTo>
                  <a:lnTo>
                    <a:pt x="2199684" y="3911599"/>
                  </a:lnTo>
                  <a:lnTo>
                    <a:pt x="2156881" y="3886199"/>
                  </a:lnTo>
                  <a:lnTo>
                    <a:pt x="2065708" y="3860799"/>
                  </a:lnTo>
                  <a:lnTo>
                    <a:pt x="2693409" y="3860799"/>
                  </a:lnTo>
                  <a:lnTo>
                    <a:pt x="2681971" y="3873499"/>
                  </a:lnTo>
                  <a:lnTo>
                    <a:pt x="2644633" y="3898899"/>
                  </a:lnTo>
                  <a:lnTo>
                    <a:pt x="2604702" y="3924299"/>
                  </a:lnTo>
                  <a:lnTo>
                    <a:pt x="2562608" y="3936999"/>
                  </a:lnTo>
                  <a:lnTo>
                    <a:pt x="2473656" y="3962399"/>
                  </a:lnTo>
                  <a:close/>
                </a:path>
              </a:pathLst>
            </a:custGeom>
            <a:solidFill>
              <a:srgbClr val="000000">
                <a:alpha val="3058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48" name="Google Shape;48;p7"/>
          <p:cNvSpPr txBox="1"/>
          <p:nvPr>
            <p:ph type="title"/>
          </p:nvPr>
        </p:nvSpPr>
        <p:spPr>
          <a:xfrm>
            <a:off x="9087488" y="247316"/>
            <a:ext cx="7146290" cy="18319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11850">
                <a:latin typeface="Arial"/>
                <a:ea typeface="Arial"/>
                <a:cs typeface="Arial"/>
                <a:sym typeface="Arial"/>
              </a:rPr>
              <a:t>PROJECT</a:t>
            </a:r>
            <a:endParaRPr sz="11850">
              <a:latin typeface="Arial"/>
              <a:ea typeface="Arial"/>
              <a:cs typeface="Arial"/>
              <a:sym typeface="Arial"/>
            </a:endParaRPr>
          </a:p>
        </p:txBody>
      </p:sp>
      <p:sp>
        <p:nvSpPr>
          <p:cNvPr id="49" name="Google Shape;49;p7"/>
          <p:cNvSpPr txBox="1"/>
          <p:nvPr/>
        </p:nvSpPr>
        <p:spPr>
          <a:xfrm>
            <a:off x="9675087" y="6267803"/>
            <a:ext cx="5951855" cy="558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3500">
                <a:solidFill>
                  <a:srgbClr val="FFF5D5"/>
                </a:solidFill>
                <a:latin typeface="Arial"/>
                <a:ea typeface="Arial"/>
                <a:cs typeface="Arial"/>
                <a:sym typeface="Arial"/>
              </a:rPr>
              <a:t>Presented by: Team Members</a:t>
            </a:r>
            <a:endParaRPr sz="3500">
              <a:latin typeface="Arial"/>
              <a:ea typeface="Arial"/>
              <a:cs typeface="Arial"/>
              <a:sym typeface="Arial"/>
            </a:endParaRPr>
          </a:p>
        </p:txBody>
      </p:sp>
      <p:sp>
        <p:nvSpPr>
          <p:cNvPr id="50" name="Google Shape;50;p7"/>
          <p:cNvSpPr txBox="1"/>
          <p:nvPr/>
        </p:nvSpPr>
        <p:spPr>
          <a:xfrm>
            <a:off x="4541829" y="819321"/>
            <a:ext cx="13261340" cy="5431155"/>
          </a:xfrm>
          <a:prstGeom prst="rect">
            <a:avLst/>
          </a:prstGeom>
          <a:noFill/>
          <a:ln>
            <a:noFill/>
          </a:ln>
        </p:spPr>
        <p:txBody>
          <a:bodyPr anchorCtr="0" anchor="t" bIns="0" lIns="0" spcFirstLastPara="1" rIns="0" wrap="square" tIns="716900">
            <a:spAutoFit/>
          </a:bodyPr>
          <a:lstStyle/>
          <a:p>
            <a:pPr indent="0" lvl="0" marL="2976245" marR="0" rtl="0" algn="ctr">
              <a:lnSpc>
                <a:spcPct val="100000"/>
              </a:lnSpc>
              <a:spcBef>
                <a:spcPts val="0"/>
              </a:spcBef>
              <a:spcAft>
                <a:spcPts val="0"/>
              </a:spcAft>
              <a:buNone/>
            </a:pPr>
            <a:r>
              <a:rPr lang="en-US" sz="11850">
                <a:solidFill>
                  <a:srgbClr val="FFF5D5"/>
                </a:solidFill>
                <a:latin typeface="Arial"/>
                <a:ea typeface="Arial"/>
                <a:cs typeface="Arial"/>
                <a:sym typeface="Arial"/>
              </a:rPr>
              <a:t>REPORT</a:t>
            </a:r>
            <a:endParaRPr sz="11850">
              <a:latin typeface="Arial"/>
              <a:ea typeface="Arial"/>
              <a:cs typeface="Arial"/>
              <a:sym typeface="Arial"/>
            </a:endParaRPr>
          </a:p>
          <a:p>
            <a:pPr indent="-1129665" lvl="0" marL="4832350" marR="5080" rtl="0" algn="l">
              <a:lnSpc>
                <a:spcPct val="116700"/>
              </a:lnSpc>
              <a:spcBef>
                <a:spcPts val="1205"/>
              </a:spcBef>
              <a:spcAft>
                <a:spcPts val="0"/>
              </a:spcAft>
              <a:buNone/>
            </a:pPr>
            <a:r>
              <a:rPr lang="en-US" sz="4500">
                <a:solidFill>
                  <a:srgbClr val="FFF5D5"/>
                </a:solidFill>
                <a:latin typeface="Arial"/>
                <a:ea typeface="Arial"/>
                <a:cs typeface="Arial"/>
                <a:sym typeface="Arial"/>
              </a:rPr>
              <a:t>INSTITUTE OF ENGINEERING AND  MANAGEMENT, KOLKATA</a:t>
            </a:r>
            <a:endParaRPr sz="4500">
              <a:latin typeface="Arial"/>
              <a:ea typeface="Arial"/>
              <a:cs typeface="Arial"/>
              <a:sym typeface="Arial"/>
            </a:endParaRPr>
          </a:p>
          <a:p>
            <a:pPr indent="0" lvl="0" marL="12700" marR="0" rtl="0" algn="l">
              <a:lnSpc>
                <a:spcPct val="100000"/>
              </a:lnSpc>
              <a:spcBef>
                <a:spcPts val="3529"/>
              </a:spcBef>
              <a:spcAft>
                <a:spcPts val="0"/>
              </a:spcAft>
              <a:buNone/>
            </a:pPr>
            <a:r>
              <a:rPr lang="en-US" sz="4550">
                <a:solidFill>
                  <a:srgbClr val="FFDE58"/>
                </a:solidFill>
                <a:latin typeface="Arial"/>
                <a:ea typeface="Arial"/>
                <a:cs typeface="Arial"/>
                <a:sym typeface="Arial"/>
              </a:rPr>
              <a:t>Group - 15</a:t>
            </a:r>
            <a:endParaRPr sz="455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8"/>
          <p:cNvSpPr txBox="1"/>
          <p:nvPr/>
        </p:nvSpPr>
        <p:spPr>
          <a:xfrm>
            <a:off x="2487958" y="2186533"/>
            <a:ext cx="3941445" cy="7522845"/>
          </a:xfrm>
          <a:prstGeom prst="rect">
            <a:avLst/>
          </a:prstGeom>
          <a:noFill/>
          <a:ln>
            <a:noFill/>
          </a:ln>
        </p:spPr>
        <p:txBody>
          <a:bodyPr anchorCtr="0" anchor="t" bIns="0" lIns="0" spcFirstLastPara="1" rIns="0" wrap="square" tIns="0">
            <a:spAutoFit/>
          </a:bodyPr>
          <a:lstStyle/>
          <a:p>
            <a:pPr indent="0" lvl="0" marL="403860" marR="0" rtl="0" algn="l">
              <a:lnSpc>
                <a:spcPct val="115000"/>
              </a:lnSpc>
              <a:spcBef>
                <a:spcPts val="0"/>
              </a:spcBef>
              <a:spcAft>
                <a:spcPts val="0"/>
              </a:spcAft>
              <a:buNone/>
            </a:pPr>
            <a:r>
              <a:rPr b="1" lang="en-US" sz="3000">
                <a:solidFill>
                  <a:srgbClr val="FF5757"/>
                </a:solidFill>
                <a:latin typeface="Arial"/>
                <a:ea typeface="Arial"/>
                <a:cs typeface="Arial"/>
                <a:sym typeface="Arial"/>
              </a:rPr>
              <a:t>GROUP MEMBERS</a:t>
            </a:r>
            <a:endParaRPr sz="3000">
              <a:latin typeface="Arial"/>
              <a:ea typeface="Arial"/>
              <a:cs typeface="Arial"/>
              <a:sym typeface="Arial"/>
            </a:endParaRPr>
          </a:p>
          <a:p>
            <a:pPr indent="0" lvl="0" marL="0" marR="389890" rtl="0" algn="ctr">
              <a:lnSpc>
                <a:spcPct val="235900"/>
              </a:lnSpc>
              <a:spcBef>
                <a:spcPts val="2080"/>
              </a:spcBef>
              <a:spcAft>
                <a:spcPts val="0"/>
              </a:spcAft>
              <a:buNone/>
            </a:pPr>
            <a:r>
              <a:rPr lang="en-US" sz="3100">
                <a:solidFill>
                  <a:srgbClr val="FFBD58"/>
                </a:solidFill>
                <a:latin typeface="Courier New"/>
                <a:ea typeface="Courier New"/>
                <a:cs typeface="Courier New"/>
                <a:sym typeface="Courier New"/>
              </a:rPr>
              <a:t>Arnab Sadhukhan  Abhishek Kumar  Raushan Kumar  Abhisikt Jha  Nitish Kumar</a:t>
            </a:r>
            <a:endParaRPr sz="3100">
              <a:latin typeface="Courier New"/>
              <a:ea typeface="Courier New"/>
              <a:cs typeface="Courier New"/>
              <a:sym typeface="Courier New"/>
            </a:endParaRPr>
          </a:p>
          <a:p>
            <a:pPr indent="0" lvl="0" marL="0" marR="0" rtl="0" algn="l">
              <a:lnSpc>
                <a:spcPct val="100000"/>
              </a:lnSpc>
              <a:spcBef>
                <a:spcPts val="5"/>
              </a:spcBef>
              <a:spcAft>
                <a:spcPts val="0"/>
              </a:spcAft>
              <a:buNone/>
            </a:pPr>
            <a:r>
              <a:t/>
            </a:r>
            <a:endParaRPr sz="5050">
              <a:latin typeface="Courier New"/>
              <a:ea typeface="Courier New"/>
              <a:cs typeface="Courier New"/>
              <a:sym typeface="Courier New"/>
            </a:endParaRPr>
          </a:p>
          <a:p>
            <a:pPr indent="0" lvl="0" marL="0" marR="390525" rtl="0" algn="ctr">
              <a:lnSpc>
                <a:spcPct val="100000"/>
              </a:lnSpc>
              <a:spcBef>
                <a:spcPts val="5"/>
              </a:spcBef>
              <a:spcAft>
                <a:spcPts val="0"/>
              </a:spcAft>
              <a:buNone/>
            </a:pPr>
            <a:r>
              <a:rPr lang="en-US" sz="3100">
                <a:solidFill>
                  <a:srgbClr val="FFBD58"/>
                </a:solidFill>
                <a:latin typeface="Courier New"/>
                <a:ea typeface="Courier New"/>
                <a:cs typeface="Courier New"/>
                <a:sym typeface="Courier New"/>
              </a:rPr>
              <a:t>Saptak Dutta</a:t>
            </a:r>
            <a:endParaRPr sz="3100">
              <a:latin typeface="Courier New"/>
              <a:ea typeface="Courier New"/>
              <a:cs typeface="Courier New"/>
              <a:sym typeface="Courier New"/>
            </a:endParaRPr>
          </a:p>
        </p:txBody>
      </p:sp>
      <p:sp>
        <p:nvSpPr>
          <p:cNvPr id="56" name="Google Shape;56;p8"/>
          <p:cNvSpPr txBox="1"/>
          <p:nvPr/>
        </p:nvSpPr>
        <p:spPr>
          <a:xfrm>
            <a:off x="7364077" y="1929267"/>
            <a:ext cx="3307079" cy="778002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lang="en-US" sz="3000">
                <a:solidFill>
                  <a:srgbClr val="FF5757"/>
                </a:solidFill>
                <a:latin typeface="Arial"/>
                <a:ea typeface="Arial"/>
                <a:cs typeface="Arial"/>
                <a:sym typeface="Arial"/>
              </a:rPr>
              <a:t>ENROLLMENT</a:t>
            </a:r>
            <a:endParaRPr sz="3000">
              <a:latin typeface="Arial"/>
              <a:ea typeface="Arial"/>
              <a:cs typeface="Arial"/>
              <a:sym typeface="Arial"/>
            </a:endParaRPr>
          </a:p>
          <a:p>
            <a:pPr indent="0" lvl="0" marL="0" marR="0" rtl="0" algn="ctr">
              <a:lnSpc>
                <a:spcPct val="100000"/>
              </a:lnSpc>
              <a:spcBef>
                <a:spcPts val="600"/>
              </a:spcBef>
              <a:spcAft>
                <a:spcPts val="0"/>
              </a:spcAft>
              <a:buNone/>
            </a:pPr>
            <a:r>
              <a:rPr b="1" lang="en-US" sz="3000">
                <a:solidFill>
                  <a:srgbClr val="FF5757"/>
                </a:solidFill>
                <a:latin typeface="Arial"/>
                <a:ea typeface="Arial"/>
                <a:cs typeface="Arial"/>
                <a:sym typeface="Arial"/>
              </a:rPr>
              <a:t>NUMBER</a:t>
            </a:r>
            <a:endParaRPr sz="3000">
              <a:latin typeface="Arial"/>
              <a:ea typeface="Arial"/>
              <a:cs typeface="Arial"/>
              <a:sym typeface="Arial"/>
            </a:endParaRPr>
          </a:p>
          <a:p>
            <a:pPr indent="0" lvl="0" marL="0" marR="0" rtl="0" algn="l">
              <a:lnSpc>
                <a:spcPct val="100000"/>
              </a:lnSpc>
              <a:spcBef>
                <a:spcPts val="15"/>
              </a:spcBef>
              <a:spcAft>
                <a:spcPts val="0"/>
              </a:spcAft>
              <a:buNone/>
            </a:pPr>
            <a:r>
              <a:t/>
            </a:r>
            <a:endParaRPr sz="4300">
              <a:latin typeface="Arial"/>
              <a:ea typeface="Arial"/>
              <a:cs typeface="Arial"/>
              <a:sym typeface="Arial"/>
            </a:endParaRPr>
          </a:p>
          <a:p>
            <a:pPr indent="0" lvl="0" marL="0" marR="0" rtl="0" algn="l">
              <a:lnSpc>
                <a:spcPct val="100000"/>
              </a:lnSpc>
              <a:spcBef>
                <a:spcPts val="0"/>
              </a:spcBef>
              <a:spcAft>
                <a:spcPts val="0"/>
              </a:spcAft>
              <a:buNone/>
            </a:pPr>
            <a:r>
              <a:rPr lang="en-US" sz="3100">
                <a:solidFill>
                  <a:srgbClr val="FFBD58"/>
                </a:solidFill>
                <a:latin typeface="Courier New"/>
                <a:ea typeface="Courier New"/>
                <a:cs typeface="Courier New"/>
                <a:sym typeface="Courier New"/>
              </a:rPr>
              <a:t>12020002018011</a:t>
            </a:r>
            <a:endParaRPr sz="3100">
              <a:latin typeface="Courier New"/>
              <a:ea typeface="Courier New"/>
              <a:cs typeface="Courier New"/>
              <a:sym typeface="Courier New"/>
            </a:endParaRPr>
          </a:p>
          <a:p>
            <a:pPr indent="0" lvl="0" marL="0" marR="0" rtl="0" algn="l">
              <a:lnSpc>
                <a:spcPct val="100000"/>
              </a:lnSpc>
              <a:spcBef>
                <a:spcPts val="10"/>
              </a:spcBef>
              <a:spcAft>
                <a:spcPts val="0"/>
              </a:spcAft>
              <a:buNone/>
            </a:pPr>
            <a:r>
              <a:t/>
            </a:r>
            <a:endParaRPr sz="4450">
              <a:latin typeface="Courier New"/>
              <a:ea typeface="Courier New"/>
              <a:cs typeface="Courier New"/>
              <a:sym typeface="Courier New"/>
            </a:endParaRPr>
          </a:p>
          <a:p>
            <a:pPr indent="0" lvl="0" marL="0" marR="0" rtl="0" algn="l">
              <a:lnSpc>
                <a:spcPct val="100000"/>
              </a:lnSpc>
              <a:spcBef>
                <a:spcPts val="5"/>
              </a:spcBef>
              <a:spcAft>
                <a:spcPts val="0"/>
              </a:spcAft>
              <a:buNone/>
            </a:pPr>
            <a:r>
              <a:rPr lang="en-US" sz="3100">
                <a:solidFill>
                  <a:srgbClr val="FFBD58"/>
                </a:solidFill>
                <a:latin typeface="Courier New"/>
                <a:ea typeface="Courier New"/>
                <a:cs typeface="Courier New"/>
                <a:sym typeface="Courier New"/>
              </a:rPr>
              <a:t>12020002018012</a:t>
            </a:r>
            <a:endParaRPr sz="3100">
              <a:latin typeface="Courier New"/>
              <a:ea typeface="Courier New"/>
              <a:cs typeface="Courier New"/>
              <a:sym typeface="Courier New"/>
            </a:endParaRPr>
          </a:p>
          <a:p>
            <a:pPr indent="0" lvl="0" marL="0" marR="0" rtl="0" algn="l">
              <a:lnSpc>
                <a:spcPct val="100000"/>
              </a:lnSpc>
              <a:spcBef>
                <a:spcPts val="10"/>
              </a:spcBef>
              <a:spcAft>
                <a:spcPts val="0"/>
              </a:spcAft>
              <a:buNone/>
            </a:pPr>
            <a:r>
              <a:t/>
            </a:r>
            <a:endParaRPr sz="4450">
              <a:latin typeface="Courier New"/>
              <a:ea typeface="Courier New"/>
              <a:cs typeface="Courier New"/>
              <a:sym typeface="Courier New"/>
            </a:endParaRPr>
          </a:p>
          <a:p>
            <a:pPr indent="0" lvl="0" marL="0" marR="0" rtl="0" algn="l">
              <a:lnSpc>
                <a:spcPct val="100000"/>
              </a:lnSpc>
              <a:spcBef>
                <a:spcPts val="0"/>
              </a:spcBef>
              <a:spcAft>
                <a:spcPts val="0"/>
              </a:spcAft>
              <a:buNone/>
            </a:pPr>
            <a:r>
              <a:rPr lang="en-US" sz="3100">
                <a:solidFill>
                  <a:srgbClr val="FFBD58"/>
                </a:solidFill>
                <a:latin typeface="Courier New"/>
                <a:ea typeface="Courier New"/>
                <a:cs typeface="Courier New"/>
                <a:sym typeface="Courier New"/>
              </a:rPr>
              <a:t>12020002018013</a:t>
            </a:r>
            <a:endParaRPr sz="3100">
              <a:latin typeface="Courier New"/>
              <a:ea typeface="Courier New"/>
              <a:cs typeface="Courier New"/>
              <a:sym typeface="Courier New"/>
            </a:endParaRPr>
          </a:p>
          <a:p>
            <a:pPr indent="0" lvl="0" marL="0" marR="0" rtl="0" algn="l">
              <a:lnSpc>
                <a:spcPct val="100000"/>
              </a:lnSpc>
              <a:spcBef>
                <a:spcPts val="15"/>
              </a:spcBef>
              <a:spcAft>
                <a:spcPts val="0"/>
              </a:spcAft>
              <a:buNone/>
            </a:pPr>
            <a:r>
              <a:t/>
            </a:r>
            <a:endParaRPr sz="4450">
              <a:latin typeface="Courier New"/>
              <a:ea typeface="Courier New"/>
              <a:cs typeface="Courier New"/>
              <a:sym typeface="Courier New"/>
            </a:endParaRPr>
          </a:p>
          <a:p>
            <a:pPr indent="0" lvl="0" marL="0" marR="0" rtl="0" algn="l">
              <a:lnSpc>
                <a:spcPct val="100000"/>
              </a:lnSpc>
              <a:spcBef>
                <a:spcPts val="0"/>
              </a:spcBef>
              <a:spcAft>
                <a:spcPts val="0"/>
              </a:spcAft>
              <a:buNone/>
            </a:pPr>
            <a:r>
              <a:rPr lang="en-US" sz="3100">
                <a:solidFill>
                  <a:srgbClr val="FFBD58"/>
                </a:solidFill>
                <a:latin typeface="Courier New"/>
                <a:ea typeface="Courier New"/>
                <a:cs typeface="Courier New"/>
                <a:sym typeface="Courier New"/>
              </a:rPr>
              <a:t>12020002018016</a:t>
            </a:r>
            <a:endParaRPr sz="3100">
              <a:latin typeface="Courier New"/>
              <a:ea typeface="Courier New"/>
              <a:cs typeface="Courier New"/>
              <a:sym typeface="Courier New"/>
            </a:endParaRPr>
          </a:p>
          <a:p>
            <a:pPr indent="0" lvl="0" marL="0" marR="0" rtl="0" algn="l">
              <a:lnSpc>
                <a:spcPct val="100000"/>
              </a:lnSpc>
              <a:spcBef>
                <a:spcPts val="15"/>
              </a:spcBef>
              <a:spcAft>
                <a:spcPts val="0"/>
              </a:spcAft>
              <a:buNone/>
            </a:pPr>
            <a:r>
              <a:t/>
            </a:r>
            <a:endParaRPr sz="4450">
              <a:latin typeface="Courier New"/>
              <a:ea typeface="Courier New"/>
              <a:cs typeface="Courier New"/>
              <a:sym typeface="Courier New"/>
            </a:endParaRPr>
          </a:p>
          <a:p>
            <a:pPr indent="0" lvl="0" marL="0" marR="0" rtl="0" algn="l">
              <a:lnSpc>
                <a:spcPct val="100000"/>
              </a:lnSpc>
              <a:spcBef>
                <a:spcPts val="0"/>
              </a:spcBef>
              <a:spcAft>
                <a:spcPts val="0"/>
              </a:spcAft>
              <a:buNone/>
            </a:pPr>
            <a:r>
              <a:rPr lang="en-US" sz="3100">
                <a:solidFill>
                  <a:srgbClr val="FFBD58"/>
                </a:solidFill>
                <a:latin typeface="Courier New"/>
                <a:ea typeface="Courier New"/>
                <a:cs typeface="Courier New"/>
                <a:sym typeface="Courier New"/>
              </a:rPr>
              <a:t>12020002018017</a:t>
            </a:r>
            <a:endParaRPr sz="3100">
              <a:latin typeface="Courier New"/>
              <a:ea typeface="Courier New"/>
              <a:cs typeface="Courier New"/>
              <a:sym typeface="Courier New"/>
            </a:endParaRPr>
          </a:p>
          <a:p>
            <a:pPr indent="0" lvl="0" marL="0" marR="0" rtl="0" algn="l">
              <a:lnSpc>
                <a:spcPct val="100000"/>
              </a:lnSpc>
              <a:spcBef>
                <a:spcPts val="10"/>
              </a:spcBef>
              <a:spcAft>
                <a:spcPts val="0"/>
              </a:spcAft>
              <a:buNone/>
            </a:pPr>
            <a:r>
              <a:t/>
            </a:r>
            <a:endParaRPr sz="5050">
              <a:latin typeface="Courier New"/>
              <a:ea typeface="Courier New"/>
              <a:cs typeface="Courier New"/>
              <a:sym typeface="Courier New"/>
            </a:endParaRPr>
          </a:p>
          <a:p>
            <a:pPr indent="0" lvl="0" marL="0" marR="0" rtl="0" algn="l">
              <a:lnSpc>
                <a:spcPct val="100000"/>
              </a:lnSpc>
              <a:spcBef>
                <a:spcPts val="0"/>
              </a:spcBef>
              <a:spcAft>
                <a:spcPts val="0"/>
              </a:spcAft>
              <a:buNone/>
            </a:pPr>
            <a:r>
              <a:rPr lang="en-US" sz="3100">
                <a:solidFill>
                  <a:srgbClr val="FFBD58"/>
                </a:solidFill>
                <a:latin typeface="Courier New"/>
                <a:ea typeface="Courier New"/>
                <a:cs typeface="Courier New"/>
                <a:sym typeface="Courier New"/>
              </a:rPr>
              <a:t>12020002018018</a:t>
            </a:r>
            <a:endParaRPr sz="3100">
              <a:latin typeface="Courier New"/>
              <a:ea typeface="Courier New"/>
              <a:cs typeface="Courier New"/>
              <a:sym typeface="Courier New"/>
            </a:endParaRPr>
          </a:p>
        </p:txBody>
      </p:sp>
      <p:sp>
        <p:nvSpPr>
          <p:cNvPr id="57" name="Google Shape;57;p8"/>
          <p:cNvSpPr txBox="1"/>
          <p:nvPr/>
        </p:nvSpPr>
        <p:spPr>
          <a:xfrm>
            <a:off x="12929254" y="2195967"/>
            <a:ext cx="1692910" cy="7499984"/>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000">
                <a:solidFill>
                  <a:srgbClr val="FF5757"/>
                </a:solidFill>
                <a:latin typeface="Arial"/>
                <a:ea typeface="Arial"/>
                <a:cs typeface="Arial"/>
                <a:sym typeface="Arial"/>
              </a:rPr>
              <a:t>STREAM</a:t>
            </a:r>
            <a:endParaRPr sz="3000">
              <a:latin typeface="Arial"/>
              <a:ea typeface="Arial"/>
              <a:cs typeface="Arial"/>
              <a:sym typeface="Arial"/>
            </a:endParaRPr>
          </a:p>
          <a:p>
            <a:pPr indent="0" lvl="0" marL="356235" marR="348615" rtl="0" algn="just">
              <a:lnSpc>
                <a:spcPct val="243800"/>
              </a:lnSpc>
              <a:spcBef>
                <a:spcPts val="1980"/>
              </a:spcBef>
              <a:spcAft>
                <a:spcPts val="0"/>
              </a:spcAft>
              <a:buNone/>
            </a:pPr>
            <a:r>
              <a:rPr lang="en-US" sz="3000">
                <a:solidFill>
                  <a:srgbClr val="FFBD58"/>
                </a:solidFill>
                <a:latin typeface="Courier New"/>
                <a:ea typeface="Courier New"/>
                <a:cs typeface="Courier New"/>
                <a:sym typeface="Courier New"/>
              </a:rPr>
              <a:t>CSBS  CSBS  CSBS  CSBS  CSBS</a:t>
            </a:r>
            <a:endParaRPr sz="30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5100">
              <a:latin typeface="Courier New"/>
              <a:ea typeface="Courier New"/>
              <a:cs typeface="Courier New"/>
              <a:sym typeface="Courier New"/>
            </a:endParaRPr>
          </a:p>
          <a:p>
            <a:pPr indent="0" lvl="0" marL="356235" marR="0" rtl="0" algn="just">
              <a:lnSpc>
                <a:spcPct val="100000"/>
              </a:lnSpc>
              <a:spcBef>
                <a:spcPts val="0"/>
              </a:spcBef>
              <a:spcAft>
                <a:spcPts val="0"/>
              </a:spcAft>
              <a:buNone/>
            </a:pPr>
            <a:r>
              <a:rPr lang="en-US" sz="3000">
                <a:solidFill>
                  <a:srgbClr val="FFBD58"/>
                </a:solidFill>
                <a:latin typeface="Courier New"/>
                <a:ea typeface="Courier New"/>
                <a:cs typeface="Courier New"/>
                <a:sym typeface="Courier New"/>
              </a:rPr>
              <a:t>CSBS</a:t>
            </a:r>
            <a:endParaRPr sz="3000">
              <a:latin typeface="Courier New"/>
              <a:ea typeface="Courier New"/>
              <a:cs typeface="Courier New"/>
              <a:sym typeface="Courier New"/>
            </a:endParaRPr>
          </a:p>
        </p:txBody>
      </p:sp>
      <p:graphicFrame>
        <p:nvGraphicFramePr>
          <p:cNvPr id="58" name="Google Shape;58;p8"/>
          <p:cNvGraphicFramePr/>
          <p:nvPr/>
        </p:nvGraphicFramePr>
        <p:xfrm>
          <a:off x="1861242" y="1605417"/>
          <a:ext cx="3000000" cy="3000000"/>
        </p:xfrm>
        <a:graphic>
          <a:graphicData uri="http://schemas.openxmlformats.org/drawingml/2006/table">
            <a:tbl>
              <a:tblPr bandRow="1" firstRow="1">
                <a:noFill/>
                <a:tableStyleId>{0BE27CAE-03BD-473D-A96F-C62E270E9B0F}</a:tableStyleId>
              </a:tblPr>
              <a:tblGrid>
                <a:gridCol w="4758050"/>
                <a:gridCol w="4758050"/>
                <a:gridCol w="4758050"/>
              </a:tblGrid>
              <a:tr h="1614200">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1144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1144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1144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1144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1144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r h="1280125">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c>
                  <a:txBody>
                    <a:bodyPr/>
                    <a:lstStyle/>
                    <a:p>
                      <a:pPr indent="0" lvl="0" marL="0" marR="0" rtl="0" algn="l">
                        <a:lnSpc>
                          <a:spcPct val="100000"/>
                        </a:lnSpc>
                        <a:spcBef>
                          <a:spcPts val="0"/>
                        </a:spcBef>
                        <a:spcAft>
                          <a:spcPts val="0"/>
                        </a:spcAft>
                        <a:buNone/>
                      </a:pPr>
                      <a:r>
                        <a:t/>
                      </a:r>
                      <a:endParaRPr sz="4900" u="none" cap="none" strike="noStrike">
                        <a:latin typeface="Times New Roman"/>
                        <a:ea typeface="Times New Roman"/>
                        <a:cs typeface="Times New Roman"/>
                        <a:sym typeface="Times New Roman"/>
                      </a:endParaRPr>
                    </a:p>
                  </a:txBody>
                  <a:tcPr marT="0" marB="0" marR="0" marL="0">
                    <a:lnL cap="flat" cmpd="sng" w="38100">
                      <a:solidFill>
                        <a:srgbClr val="FF9999"/>
                      </a:solidFill>
                      <a:prstDash val="solid"/>
                      <a:round/>
                      <a:headEnd len="sm" w="sm" type="none"/>
                      <a:tailEnd len="sm" w="sm" type="none"/>
                    </a:lnL>
                    <a:lnR cap="flat" cmpd="sng" w="38100">
                      <a:solidFill>
                        <a:srgbClr val="FF9999"/>
                      </a:solidFill>
                      <a:prstDash val="solid"/>
                      <a:round/>
                      <a:headEnd len="sm" w="sm" type="none"/>
                      <a:tailEnd len="sm" w="sm" type="none"/>
                    </a:lnR>
                    <a:lnT cap="flat" cmpd="sng" w="38100">
                      <a:solidFill>
                        <a:srgbClr val="FF9999"/>
                      </a:solidFill>
                      <a:prstDash val="solid"/>
                      <a:round/>
                      <a:headEnd len="sm" w="sm" type="none"/>
                      <a:tailEnd len="sm" w="sm" type="none"/>
                    </a:lnT>
                    <a:lnB cap="flat" cmpd="sng" w="38100">
                      <a:solidFill>
                        <a:srgbClr val="FF9999"/>
                      </a:solidFill>
                      <a:prstDash val="solid"/>
                      <a:round/>
                      <a:headEnd len="sm" w="sm" type="none"/>
                      <a:tailEnd len="sm" w="sm" type="none"/>
                    </a:lnB>
                    <a:solidFill>
                      <a:srgbClr val="000000"/>
                    </a:solidFill>
                  </a:tcPr>
                </a:tc>
              </a:tr>
            </a:tbl>
          </a:graphicData>
        </a:graphic>
      </p:graphicFrame>
      <p:sp>
        <p:nvSpPr>
          <p:cNvPr id="59" name="Google Shape;59;p8"/>
          <p:cNvSpPr txBox="1"/>
          <p:nvPr>
            <p:ph type="title"/>
          </p:nvPr>
        </p:nvSpPr>
        <p:spPr>
          <a:xfrm>
            <a:off x="1111101" y="323883"/>
            <a:ext cx="16066135" cy="772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900">
                <a:solidFill>
                  <a:srgbClr val="FFDE58"/>
                </a:solidFill>
              </a:rPr>
              <a:t>CONTENT BASED MOVIE RECOMMENDATION APP</a:t>
            </a:r>
            <a:endParaRPr sz="4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p:nvPr/>
        </p:nvSpPr>
        <p:spPr>
          <a:xfrm>
            <a:off x="0" y="6349"/>
            <a:ext cx="5657880" cy="5651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5" name="Google Shape;65;p9"/>
          <p:cNvSpPr txBox="1"/>
          <p:nvPr/>
        </p:nvSpPr>
        <p:spPr>
          <a:xfrm>
            <a:off x="5045020" y="4267373"/>
            <a:ext cx="12542520" cy="5238115"/>
          </a:xfrm>
          <a:prstGeom prst="rect">
            <a:avLst/>
          </a:prstGeom>
          <a:noFill/>
          <a:ln>
            <a:noFill/>
          </a:ln>
        </p:spPr>
        <p:txBody>
          <a:bodyPr anchorCtr="0" anchor="t" bIns="0" lIns="0" spcFirstLastPara="1" rIns="0" wrap="square" tIns="12050">
            <a:spAutoFit/>
          </a:bodyPr>
          <a:lstStyle/>
          <a:p>
            <a:pPr indent="-447040" lvl="0" marL="459105" marR="5080" rtl="0" algn="l">
              <a:lnSpc>
                <a:spcPct val="116900"/>
              </a:lnSpc>
              <a:spcBef>
                <a:spcPts val="0"/>
              </a:spcBef>
              <a:spcAft>
                <a:spcPts val="0"/>
              </a:spcAft>
              <a:buNone/>
            </a:pPr>
            <a:r>
              <a:rPr lang="en-US" sz="5850">
                <a:solidFill>
                  <a:srgbClr val="FFBD58"/>
                </a:solidFill>
                <a:latin typeface="Courier New"/>
                <a:ea typeface="Courier New"/>
                <a:cs typeface="Courier New"/>
                <a:sym typeface="Courier New"/>
              </a:rPr>
              <a:t>We haven't done this without  the consent of our beloved</a:t>
            </a:r>
            <a:endParaRPr sz="5850">
              <a:latin typeface="Courier New"/>
              <a:ea typeface="Courier New"/>
              <a:cs typeface="Courier New"/>
              <a:sym typeface="Courier New"/>
            </a:endParaRPr>
          </a:p>
          <a:p>
            <a:pPr indent="0" lvl="0" marL="4258945" marR="0" rtl="0" algn="l">
              <a:lnSpc>
                <a:spcPct val="100000"/>
              </a:lnSpc>
              <a:spcBef>
                <a:spcPts val="1190"/>
              </a:spcBef>
              <a:spcAft>
                <a:spcPts val="0"/>
              </a:spcAft>
              <a:buNone/>
            </a:pPr>
            <a:r>
              <a:rPr lang="en-US" sz="5850">
                <a:solidFill>
                  <a:srgbClr val="FFBD58"/>
                </a:solidFill>
                <a:latin typeface="Courier New"/>
                <a:ea typeface="Courier New"/>
                <a:cs typeface="Courier New"/>
                <a:sym typeface="Courier New"/>
              </a:rPr>
              <a:t>teacher,</a:t>
            </a:r>
            <a:endParaRPr sz="5850">
              <a:latin typeface="Courier New"/>
              <a:ea typeface="Courier New"/>
              <a:cs typeface="Courier New"/>
              <a:sym typeface="Courier New"/>
            </a:endParaRPr>
          </a:p>
          <a:p>
            <a:pPr indent="669925" lvl="0" marL="1577340" marR="1122045" rtl="0" algn="l">
              <a:lnSpc>
                <a:spcPct val="116900"/>
              </a:lnSpc>
              <a:spcBef>
                <a:spcPts val="0"/>
              </a:spcBef>
              <a:spcAft>
                <a:spcPts val="0"/>
              </a:spcAft>
              <a:buNone/>
            </a:pPr>
            <a:r>
              <a:rPr lang="en-US" sz="5850">
                <a:solidFill>
                  <a:srgbClr val="FFBD58"/>
                </a:solidFill>
                <a:latin typeface="Courier New"/>
                <a:ea typeface="Courier New"/>
                <a:cs typeface="Courier New"/>
                <a:sym typeface="Courier New"/>
              </a:rPr>
              <a:t>our project guide-  Mr Mrityunjay Sen sir.</a:t>
            </a:r>
            <a:endParaRPr sz="5850">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0"/>
          <p:cNvSpPr/>
          <p:nvPr/>
        </p:nvSpPr>
        <p:spPr>
          <a:xfrm>
            <a:off x="1660583" y="328473"/>
            <a:ext cx="10868009" cy="962976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1" name="Google Shape;71;p10"/>
          <p:cNvSpPr txBox="1"/>
          <p:nvPr>
            <p:ph type="title"/>
          </p:nvPr>
        </p:nvSpPr>
        <p:spPr>
          <a:xfrm>
            <a:off x="13184773" y="8828111"/>
            <a:ext cx="4505960" cy="772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4900">
                <a:solidFill>
                  <a:srgbClr val="FFFFFF"/>
                </a:solidFill>
                <a:latin typeface="Courier New"/>
                <a:ea typeface="Courier New"/>
                <a:cs typeface="Courier New"/>
                <a:sym typeface="Courier New"/>
              </a:rPr>
              <a:t>sample image</a:t>
            </a:r>
            <a:endParaRPr sz="490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1"/>
          <p:cNvSpPr txBox="1"/>
          <p:nvPr>
            <p:ph type="title"/>
          </p:nvPr>
        </p:nvSpPr>
        <p:spPr>
          <a:xfrm>
            <a:off x="6110183" y="451286"/>
            <a:ext cx="4789170"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ABSTRACT</a:t>
            </a:r>
            <a:endParaRPr/>
          </a:p>
        </p:txBody>
      </p:sp>
      <p:sp>
        <p:nvSpPr>
          <p:cNvPr id="77" name="Google Shape;77;p11"/>
          <p:cNvSpPr txBox="1"/>
          <p:nvPr/>
        </p:nvSpPr>
        <p:spPr>
          <a:xfrm>
            <a:off x="760064" y="1688673"/>
            <a:ext cx="16309975" cy="8103870"/>
          </a:xfrm>
          <a:prstGeom prst="rect">
            <a:avLst/>
          </a:prstGeom>
          <a:noFill/>
          <a:ln>
            <a:noFill/>
          </a:ln>
        </p:spPr>
        <p:txBody>
          <a:bodyPr anchorCtr="0" anchor="t" bIns="0" lIns="0" spcFirstLastPara="1" rIns="0" wrap="square" tIns="11425">
            <a:spAutoFit/>
          </a:bodyPr>
          <a:lstStyle/>
          <a:p>
            <a:pPr indent="0" lvl="0" marL="12065" marR="5080" rtl="0" algn="ctr">
              <a:lnSpc>
                <a:spcPct val="116500"/>
              </a:lnSpc>
              <a:spcBef>
                <a:spcPts val="0"/>
              </a:spcBef>
              <a:spcAft>
                <a:spcPts val="0"/>
              </a:spcAft>
              <a:buNone/>
            </a:pPr>
            <a:r>
              <a:rPr lang="en-US" sz="3250">
                <a:solidFill>
                  <a:srgbClr val="FFFFFF"/>
                </a:solidFill>
                <a:latin typeface="Courier New"/>
                <a:ea typeface="Courier New"/>
                <a:cs typeface="Courier New"/>
                <a:sym typeface="Courier New"/>
              </a:rPr>
              <a:t>Recommendation systems have become extremely common in recent  years.The system recommends personalised sets of videos to users  based on their activity on the site. It is a software tool and  techniques that provide suggestions based on the customer's taste  to discover new appropriate things for them by filtering  personalised information based on the user's preferences from a  large volume of information.</a:t>
            </a:r>
            <a:endParaRPr sz="3250">
              <a:latin typeface="Courier New"/>
              <a:ea typeface="Courier New"/>
              <a:cs typeface="Courier New"/>
              <a:sym typeface="Courier New"/>
            </a:endParaRPr>
          </a:p>
          <a:p>
            <a:pPr indent="0" lvl="0" marL="0" marR="0" rtl="0" algn="l">
              <a:lnSpc>
                <a:spcPct val="100000"/>
              </a:lnSpc>
              <a:spcBef>
                <a:spcPts val="10"/>
              </a:spcBef>
              <a:spcAft>
                <a:spcPts val="0"/>
              </a:spcAft>
              <a:buNone/>
            </a:pPr>
            <a:r>
              <a:t/>
            </a:r>
            <a:endParaRPr sz="4000">
              <a:latin typeface="Courier New"/>
              <a:ea typeface="Courier New"/>
              <a:cs typeface="Courier New"/>
              <a:sym typeface="Courier New"/>
            </a:endParaRPr>
          </a:p>
          <a:p>
            <a:pPr indent="0" lvl="0" marL="638810" marR="631190" rtl="0" algn="ctr">
              <a:lnSpc>
                <a:spcPct val="116500"/>
              </a:lnSpc>
              <a:spcBef>
                <a:spcPts val="0"/>
              </a:spcBef>
              <a:spcAft>
                <a:spcPts val="0"/>
              </a:spcAft>
              <a:buNone/>
            </a:pPr>
            <a:r>
              <a:rPr lang="en-US" sz="3250">
                <a:solidFill>
                  <a:srgbClr val="FFFFFF"/>
                </a:solidFill>
                <a:latin typeface="Courier New"/>
                <a:ea typeface="Courier New"/>
                <a:cs typeface="Courier New"/>
                <a:sym typeface="Courier New"/>
              </a:rPr>
              <a:t>Content-based filtering is a type of recommender system that  attempts to guess what a user may like based on that user’s  activity.</a:t>
            </a:r>
            <a:endParaRPr sz="3250">
              <a:latin typeface="Courier New"/>
              <a:ea typeface="Courier New"/>
              <a:cs typeface="Courier New"/>
              <a:sym typeface="Courier New"/>
            </a:endParaRPr>
          </a:p>
          <a:p>
            <a:pPr indent="-635" lvl="0" marL="137795" marR="129539" rtl="0" algn="ctr">
              <a:lnSpc>
                <a:spcPct val="116500"/>
              </a:lnSpc>
              <a:spcBef>
                <a:spcPts val="0"/>
              </a:spcBef>
              <a:spcAft>
                <a:spcPts val="0"/>
              </a:spcAft>
              <a:buNone/>
            </a:pPr>
            <a:r>
              <a:rPr lang="en-US" sz="3250">
                <a:solidFill>
                  <a:srgbClr val="FFFFFF"/>
                </a:solidFill>
                <a:latin typeface="Courier New"/>
                <a:ea typeface="Courier New"/>
                <a:cs typeface="Courier New"/>
                <a:sym typeface="Courier New"/>
              </a:rPr>
              <a:t>Content-based filtering makes recommendations by using keywords  and attributes assigned to objects in a database (e.g., items in  an online marketplace) and matching them to a user profile.</a:t>
            </a:r>
            <a:endParaRPr sz="325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2"/>
          <p:cNvSpPr txBox="1"/>
          <p:nvPr>
            <p:ph type="title"/>
          </p:nvPr>
        </p:nvSpPr>
        <p:spPr>
          <a:xfrm>
            <a:off x="5033721" y="451283"/>
            <a:ext cx="6942455"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INTRODUCTION</a:t>
            </a:r>
            <a:endParaRPr/>
          </a:p>
        </p:txBody>
      </p:sp>
      <p:sp>
        <p:nvSpPr>
          <p:cNvPr id="83" name="Google Shape;83;p12"/>
          <p:cNvSpPr/>
          <p:nvPr/>
        </p:nvSpPr>
        <p:spPr>
          <a:xfrm>
            <a:off x="2944733" y="1901064"/>
            <a:ext cx="11982449" cy="7886699"/>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239199" y="72962"/>
            <a:ext cx="17711420" cy="9283700"/>
          </a:xfrm>
          <a:prstGeom prst="rect">
            <a:avLst/>
          </a:prstGeom>
          <a:noFill/>
          <a:ln>
            <a:noFill/>
          </a:ln>
        </p:spPr>
        <p:txBody>
          <a:bodyPr anchorCtr="0" anchor="t" bIns="0" lIns="0" spcFirstLastPara="1" rIns="0" wrap="square" tIns="11425">
            <a:spAutoFit/>
          </a:bodyPr>
          <a:lstStyle/>
          <a:p>
            <a:pPr indent="-635" lvl="0" marL="124460" marR="116839" rtl="0" algn="ctr">
              <a:lnSpc>
                <a:spcPct val="116399"/>
              </a:lnSpc>
              <a:spcBef>
                <a:spcPts val="0"/>
              </a:spcBef>
              <a:spcAft>
                <a:spcPts val="0"/>
              </a:spcAft>
              <a:buNone/>
            </a:pPr>
            <a:r>
              <a:rPr lang="en-US" sz="2900">
                <a:solidFill>
                  <a:srgbClr val="FFFFFF"/>
                </a:solidFill>
                <a:latin typeface="Courier New"/>
                <a:ea typeface="Courier New"/>
                <a:cs typeface="Courier New"/>
                <a:sym typeface="Courier New"/>
              </a:rPr>
              <a:t>Recommendation system has been seen to be very useful for user to select an  item amongst many. It produces a ranked list of items on which a user might be  interested, in the context of his current choice of an item. It helps the user  to address the problem of information overload and finds the relevant objects  for user. Recommendation system has been built for movies, book, communities,  news, articles etc. There are two main approaches to build a recommendation  system- collaborative filtering and content based.</a:t>
            </a:r>
            <a:endParaRPr sz="2900">
              <a:latin typeface="Courier New"/>
              <a:ea typeface="Courier New"/>
              <a:cs typeface="Courier New"/>
              <a:sym typeface="Courier New"/>
            </a:endParaRPr>
          </a:p>
          <a:p>
            <a:pPr indent="0" lvl="0" marL="0" marR="0" rtl="0" algn="l">
              <a:lnSpc>
                <a:spcPct val="100000"/>
              </a:lnSpc>
              <a:spcBef>
                <a:spcPts val="25"/>
              </a:spcBef>
              <a:spcAft>
                <a:spcPts val="0"/>
              </a:spcAft>
              <a:buNone/>
            </a:pPr>
            <a:r>
              <a:t/>
            </a:r>
            <a:endParaRPr sz="3550">
              <a:latin typeface="Courier New"/>
              <a:ea typeface="Courier New"/>
              <a:cs typeface="Courier New"/>
              <a:sym typeface="Courier New"/>
            </a:endParaRPr>
          </a:p>
          <a:p>
            <a:pPr indent="0" lvl="0" marL="12065" marR="5080" rtl="0" algn="ctr">
              <a:lnSpc>
                <a:spcPct val="116399"/>
              </a:lnSpc>
              <a:spcBef>
                <a:spcPts val="5"/>
              </a:spcBef>
              <a:spcAft>
                <a:spcPts val="0"/>
              </a:spcAft>
              <a:buNone/>
            </a:pPr>
            <a:r>
              <a:rPr lang="en-US" sz="2900">
                <a:solidFill>
                  <a:srgbClr val="FFFFFF"/>
                </a:solidFill>
                <a:latin typeface="Courier New"/>
                <a:ea typeface="Courier New"/>
                <a:cs typeface="Courier New"/>
                <a:sym typeface="Courier New"/>
              </a:rPr>
              <a:t>Collaborative filtering recommenders use the opinions of other users to predict  the value of items for each user in the community. Whereas content-based  recommendation systems recommend on basis of the content similarity between  objects. A hybrid recommender system also can be built by combining  collaborative filltering and content based system.Content-based recommendation  systems are very much useful when there is no or very less user data available.</a:t>
            </a:r>
            <a:endParaRPr sz="2900">
              <a:latin typeface="Courier New"/>
              <a:ea typeface="Courier New"/>
              <a:cs typeface="Courier New"/>
              <a:sym typeface="Courier New"/>
            </a:endParaRPr>
          </a:p>
          <a:p>
            <a:pPr indent="0" lvl="0" marL="459740" marR="452755" rtl="0" algn="ctr">
              <a:lnSpc>
                <a:spcPct val="116399"/>
              </a:lnSpc>
              <a:spcBef>
                <a:spcPts val="0"/>
              </a:spcBef>
              <a:spcAft>
                <a:spcPts val="0"/>
              </a:spcAft>
              <a:buNone/>
            </a:pPr>
            <a:r>
              <a:rPr lang="en-US" sz="2900">
                <a:solidFill>
                  <a:srgbClr val="FFFFFF"/>
                </a:solidFill>
                <a:latin typeface="Courier New"/>
                <a:ea typeface="Courier New"/>
                <a:cs typeface="Courier New"/>
                <a:sym typeface="Courier New"/>
              </a:rPr>
              <a:t>In that case depending on the similarity between the items the system  recommends. The similarity of the content of the items is measured. To find  this similarity various machine learning techniques</a:t>
            </a:r>
            <a:endParaRPr sz="2900">
              <a:latin typeface="Courier New"/>
              <a:ea typeface="Courier New"/>
              <a:cs typeface="Courier New"/>
              <a:sym typeface="Courier New"/>
            </a:endParaRPr>
          </a:p>
          <a:p>
            <a:pPr indent="0" lvl="0" marL="0" marR="0" rtl="0" algn="ctr">
              <a:lnSpc>
                <a:spcPct val="100000"/>
              </a:lnSpc>
              <a:spcBef>
                <a:spcPts val="565"/>
              </a:spcBef>
              <a:spcAft>
                <a:spcPts val="0"/>
              </a:spcAft>
              <a:buNone/>
            </a:pPr>
            <a:r>
              <a:rPr lang="en-US" sz="2900">
                <a:solidFill>
                  <a:srgbClr val="FFFFFF"/>
                </a:solidFill>
                <a:latin typeface="Courier New"/>
                <a:ea typeface="Courier New"/>
                <a:cs typeface="Courier New"/>
                <a:sym typeface="Courier New"/>
              </a:rPr>
              <a:t>(supervised or unsupervised) can be applied.</a:t>
            </a:r>
            <a:endParaRPr sz="29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022659" y="451283"/>
            <a:ext cx="10964545"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ON PURPOSED THOUGHT</a:t>
            </a:r>
            <a:endParaRPr/>
          </a:p>
        </p:txBody>
      </p:sp>
      <p:sp>
        <p:nvSpPr>
          <p:cNvPr id="94" name="Google Shape;94;p14"/>
          <p:cNvSpPr txBox="1"/>
          <p:nvPr/>
        </p:nvSpPr>
        <p:spPr>
          <a:xfrm>
            <a:off x="891808" y="1588536"/>
            <a:ext cx="16304894" cy="8547100"/>
          </a:xfrm>
          <a:prstGeom prst="rect">
            <a:avLst/>
          </a:prstGeom>
          <a:noFill/>
          <a:ln>
            <a:noFill/>
          </a:ln>
        </p:spPr>
        <p:txBody>
          <a:bodyPr anchorCtr="0" anchor="t" bIns="0" lIns="0" spcFirstLastPara="1" rIns="0" wrap="square" tIns="11425">
            <a:spAutoFit/>
          </a:bodyPr>
          <a:lstStyle/>
          <a:p>
            <a:pPr indent="0" lvl="0" marL="135890" marR="128270" rtl="0" algn="ctr">
              <a:lnSpc>
                <a:spcPct val="116500"/>
              </a:lnSpc>
              <a:spcBef>
                <a:spcPts val="0"/>
              </a:spcBef>
              <a:spcAft>
                <a:spcPts val="0"/>
              </a:spcAft>
              <a:buNone/>
            </a:pPr>
            <a:r>
              <a:rPr lang="en-US" sz="3200">
                <a:solidFill>
                  <a:srgbClr val="FFFFFF"/>
                </a:solidFill>
                <a:latin typeface="Courier New"/>
                <a:ea typeface="Courier New"/>
                <a:cs typeface="Courier New"/>
                <a:sym typeface="Courier New"/>
              </a:rPr>
              <a:t>We will develop an application in which user can maintain a  catalogue of content they consume. User can also rate the  contents. We will enable them to write review about the contents.</a:t>
            </a:r>
            <a:endParaRPr sz="3200">
              <a:latin typeface="Courier New"/>
              <a:ea typeface="Courier New"/>
              <a:cs typeface="Courier New"/>
              <a:sym typeface="Courier New"/>
            </a:endParaRPr>
          </a:p>
          <a:p>
            <a:pPr indent="0" lvl="0" marL="12065" marR="5080" rtl="0" algn="ctr">
              <a:lnSpc>
                <a:spcPct val="116500"/>
              </a:lnSpc>
              <a:spcBef>
                <a:spcPts val="0"/>
              </a:spcBef>
              <a:spcAft>
                <a:spcPts val="0"/>
              </a:spcAft>
              <a:buNone/>
            </a:pPr>
            <a:r>
              <a:rPr lang="en-US" sz="3200">
                <a:solidFill>
                  <a:srgbClr val="FFFFFF"/>
                </a:solidFill>
                <a:latin typeface="Courier New"/>
                <a:ea typeface="Courier New"/>
                <a:cs typeface="Courier New"/>
                <a:sym typeface="Courier New"/>
              </a:rPr>
              <a:t>The application will recommend them similar content based on their  rating and details of contents.Users will also be shown the  trending movie list. They can even create their own playslist.We  will store the fetched data in google Firebase.</a:t>
            </a:r>
            <a:endParaRPr sz="3200">
              <a:latin typeface="Courier New"/>
              <a:ea typeface="Courier New"/>
              <a:cs typeface="Courier New"/>
              <a:sym typeface="Courier New"/>
            </a:endParaRPr>
          </a:p>
          <a:p>
            <a:pPr indent="0" lvl="0" marL="0" marR="0" rtl="0" algn="l">
              <a:lnSpc>
                <a:spcPct val="100000"/>
              </a:lnSpc>
              <a:spcBef>
                <a:spcPts val="5"/>
              </a:spcBef>
              <a:spcAft>
                <a:spcPts val="0"/>
              </a:spcAft>
              <a:buNone/>
            </a:pPr>
            <a:r>
              <a:t/>
            </a:r>
            <a:endParaRPr sz="4500">
              <a:latin typeface="Courier New"/>
              <a:ea typeface="Courier New"/>
              <a:cs typeface="Courier New"/>
              <a:sym typeface="Courier New"/>
            </a:endParaRPr>
          </a:p>
          <a:p>
            <a:pPr indent="0" lvl="0" marL="0" marR="0" rtl="0" algn="ctr">
              <a:lnSpc>
                <a:spcPct val="100000"/>
              </a:lnSpc>
              <a:spcBef>
                <a:spcPts val="5"/>
              </a:spcBef>
              <a:spcAft>
                <a:spcPts val="0"/>
              </a:spcAft>
              <a:buNone/>
            </a:pPr>
            <a:r>
              <a:rPr lang="en-US" sz="3200">
                <a:solidFill>
                  <a:srgbClr val="FFFFFF"/>
                </a:solidFill>
                <a:latin typeface="Courier New"/>
                <a:ea typeface="Courier New"/>
                <a:cs typeface="Courier New"/>
                <a:sym typeface="Courier New"/>
              </a:rPr>
              <a:t>For example, if a user watched a SRK movie and rated it 4/5 stars.</a:t>
            </a:r>
            <a:endParaRPr sz="3200">
              <a:latin typeface="Courier New"/>
              <a:ea typeface="Courier New"/>
              <a:cs typeface="Courier New"/>
              <a:sym typeface="Courier New"/>
            </a:endParaRPr>
          </a:p>
          <a:p>
            <a:pPr indent="0" lvl="0" marL="382270" marR="374650" rtl="0" algn="ctr">
              <a:lnSpc>
                <a:spcPct val="116500"/>
              </a:lnSpc>
              <a:spcBef>
                <a:spcPts val="0"/>
              </a:spcBef>
              <a:spcAft>
                <a:spcPts val="0"/>
              </a:spcAft>
              <a:buNone/>
            </a:pPr>
            <a:r>
              <a:rPr lang="en-US" sz="3200">
                <a:solidFill>
                  <a:srgbClr val="FFFFFF"/>
                </a:solidFill>
                <a:latin typeface="Courier New"/>
                <a:ea typeface="Courier New"/>
                <a:cs typeface="Courier New"/>
                <a:sym typeface="Courier New"/>
              </a:rPr>
              <a:t>Then, application will suggest them movies, songs, etc. of same  genres or a movie starring SRK.</a:t>
            </a:r>
            <a:endParaRPr sz="3200">
              <a:latin typeface="Courier New"/>
              <a:ea typeface="Courier New"/>
              <a:cs typeface="Courier New"/>
              <a:sym typeface="Courier New"/>
            </a:endParaRPr>
          </a:p>
          <a:p>
            <a:pPr indent="0" lvl="0" marL="0" marR="0" rtl="0" algn="l">
              <a:lnSpc>
                <a:spcPct val="100000"/>
              </a:lnSpc>
              <a:spcBef>
                <a:spcPts val="50"/>
              </a:spcBef>
              <a:spcAft>
                <a:spcPts val="0"/>
              </a:spcAft>
              <a:buNone/>
            </a:pPr>
            <a:r>
              <a:t/>
            </a:r>
            <a:endParaRPr sz="3900">
              <a:latin typeface="Courier New"/>
              <a:ea typeface="Courier New"/>
              <a:cs typeface="Courier New"/>
              <a:sym typeface="Courier New"/>
            </a:endParaRPr>
          </a:p>
          <a:p>
            <a:pPr indent="0" lvl="0" marL="12065" marR="5080" rtl="0" algn="ctr">
              <a:lnSpc>
                <a:spcPct val="116500"/>
              </a:lnSpc>
              <a:spcBef>
                <a:spcPts val="0"/>
              </a:spcBef>
              <a:spcAft>
                <a:spcPts val="0"/>
              </a:spcAft>
              <a:buNone/>
            </a:pPr>
            <a:r>
              <a:rPr lang="en-US" sz="3200">
                <a:solidFill>
                  <a:srgbClr val="FFFFFF"/>
                </a:solidFill>
                <a:latin typeface="Courier New"/>
                <a:ea typeface="Courier New"/>
                <a:cs typeface="Courier New"/>
                <a:sym typeface="Courier New"/>
              </a:rPr>
              <a:t>(Realtime Database lets you build rich, collaborative applications  by allowing secure access to the database directly from client-  side code)</a:t>
            </a:r>
            <a:endParaRPr sz="32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nvSpPr>
        <p:spPr>
          <a:xfrm>
            <a:off x="1060520" y="1653623"/>
            <a:ext cx="16480200" cy="6701100"/>
          </a:xfrm>
          <a:prstGeom prst="rect">
            <a:avLst/>
          </a:prstGeom>
          <a:noFill/>
          <a:ln>
            <a:noFill/>
          </a:ln>
        </p:spPr>
        <p:txBody>
          <a:bodyPr anchorCtr="0" anchor="t" bIns="0" lIns="0" spcFirstLastPara="1" rIns="0" wrap="square" tIns="11425">
            <a:spAutoFit/>
          </a:bodyPr>
          <a:lstStyle/>
          <a:p>
            <a:pPr indent="0" lvl="0" marL="12065" marR="5080" rtl="0" algn="ctr">
              <a:lnSpc>
                <a:spcPct val="116500"/>
              </a:lnSpc>
              <a:spcBef>
                <a:spcPts val="0"/>
              </a:spcBef>
              <a:spcAft>
                <a:spcPts val="0"/>
              </a:spcAft>
              <a:buNone/>
            </a:pPr>
            <a:r>
              <a:rPr lang="en-US" sz="3400">
                <a:solidFill>
                  <a:srgbClr val="FFFFFF"/>
                </a:solidFill>
                <a:latin typeface="Courier New"/>
                <a:ea typeface="Courier New"/>
                <a:cs typeface="Courier New"/>
                <a:sym typeface="Courier New"/>
              </a:rPr>
              <a:t>T</a:t>
            </a:r>
            <a:r>
              <a:rPr lang="en-US" sz="3400">
                <a:solidFill>
                  <a:srgbClr val="FFFFFF"/>
                </a:solidFill>
                <a:latin typeface="Courier New"/>
                <a:ea typeface="Courier New"/>
                <a:cs typeface="Courier New"/>
                <a:sym typeface="Courier New"/>
              </a:rPr>
              <a:t>he  recommender system was defined from the perspective of E- commerce as a tool that helps users search through records of  knowledge which is related to users’ interest and preference.</a:t>
            </a:r>
            <a:endParaRPr sz="3400">
              <a:solidFill>
                <a:srgbClr val="FFFFFF"/>
              </a:solidFill>
              <a:latin typeface="Courier New"/>
              <a:ea typeface="Courier New"/>
              <a:cs typeface="Courier New"/>
              <a:sym typeface="Courier New"/>
            </a:endParaRPr>
          </a:p>
          <a:p>
            <a:pPr indent="0" lvl="0" marL="12065" marR="5080" rtl="0" algn="ctr">
              <a:lnSpc>
                <a:spcPct val="116500"/>
              </a:lnSpc>
              <a:spcBef>
                <a:spcPts val="0"/>
              </a:spcBef>
              <a:spcAft>
                <a:spcPts val="0"/>
              </a:spcAft>
              <a:buNone/>
            </a:pPr>
            <a:r>
              <a:t/>
            </a:r>
            <a:endParaRPr sz="3400">
              <a:solidFill>
                <a:srgbClr val="FFFFFF"/>
              </a:solidFill>
              <a:latin typeface="Courier New"/>
              <a:ea typeface="Courier New"/>
              <a:cs typeface="Courier New"/>
              <a:sym typeface="Courier New"/>
            </a:endParaRPr>
          </a:p>
          <a:p>
            <a:pPr indent="0" lvl="0" marL="142240" marR="135255" rtl="0" algn="l">
              <a:lnSpc>
                <a:spcPct val="139705"/>
              </a:lnSpc>
              <a:spcBef>
                <a:spcPts val="275"/>
              </a:spcBef>
              <a:spcAft>
                <a:spcPts val="0"/>
              </a:spcAft>
              <a:buNone/>
            </a:pPr>
            <a:r>
              <a:rPr lang="en-US" sz="3400">
                <a:solidFill>
                  <a:srgbClr val="FFFFFF"/>
                </a:solidFill>
                <a:latin typeface="Courier New"/>
                <a:ea typeface="Courier New"/>
                <a:cs typeface="Courier New"/>
                <a:sym typeface="Courier New"/>
              </a:rPr>
              <a:t>GroupLens is a news-based architecture which employs collaborative methods in assisting users to locate articles from massive news database.</a:t>
            </a:r>
            <a:endParaRPr sz="3400">
              <a:solidFill>
                <a:srgbClr val="FFFFFF"/>
              </a:solidFill>
              <a:latin typeface="Courier New"/>
              <a:ea typeface="Courier New"/>
              <a:cs typeface="Courier New"/>
              <a:sym typeface="Courier New"/>
            </a:endParaRPr>
          </a:p>
          <a:p>
            <a:pPr indent="-635" lvl="0" marL="142875" marR="135255" rtl="0" algn="l">
              <a:lnSpc>
                <a:spcPct val="139705"/>
              </a:lnSpc>
              <a:spcBef>
                <a:spcPts val="275"/>
              </a:spcBef>
              <a:spcAft>
                <a:spcPts val="0"/>
              </a:spcAft>
              <a:buNone/>
            </a:pPr>
            <a:r>
              <a:rPr lang="en-US" sz="3400">
                <a:solidFill>
                  <a:srgbClr val="FFFFFF"/>
                </a:solidFill>
                <a:latin typeface="Courier New"/>
                <a:ea typeface="Courier New"/>
                <a:cs typeface="Courier New"/>
                <a:sym typeface="Courier New"/>
              </a:rPr>
              <a:t> </a:t>
            </a:r>
            <a:endParaRPr sz="3400">
              <a:latin typeface="Courier New"/>
              <a:ea typeface="Courier New"/>
              <a:cs typeface="Courier New"/>
              <a:sym typeface="Courier New"/>
            </a:endParaRPr>
          </a:p>
          <a:p>
            <a:pPr indent="0" lvl="0" marL="0" marR="527050" rtl="0" algn="l">
              <a:lnSpc>
                <a:spcPct val="139705"/>
              </a:lnSpc>
              <a:spcBef>
                <a:spcPts val="10"/>
              </a:spcBef>
              <a:spcAft>
                <a:spcPts val="0"/>
              </a:spcAft>
              <a:buNone/>
            </a:pPr>
            <a:r>
              <a:rPr lang="en-US" sz="3400">
                <a:solidFill>
                  <a:srgbClr val="FFFFFF"/>
                </a:solidFill>
                <a:latin typeface="Courier New"/>
                <a:ea typeface="Courier New"/>
                <a:cs typeface="Courier New"/>
                <a:sym typeface="Courier New"/>
              </a:rPr>
              <a:t>Amazon uses topic diversification algorithms to improve its  recommendation.</a:t>
            </a:r>
            <a:endParaRPr sz="3400">
              <a:latin typeface="Courier New"/>
              <a:ea typeface="Courier New"/>
              <a:cs typeface="Courier New"/>
              <a:sym typeface="Courier New"/>
            </a:endParaRPr>
          </a:p>
        </p:txBody>
      </p:sp>
      <p:sp>
        <p:nvSpPr>
          <p:cNvPr id="100" name="Google Shape;100;p15"/>
          <p:cNvSpPr txBox="1"/>
          <p:nvPr>
            <p:ph type="title"/>
          </p:nvPr>
        </p:nvSpPr>
        <p:spPr>
          <a:xfrm>
            <a:off x="5787887" y="173265"/>
            <a:ext cx="7084695"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RELATED 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330107" y="1640333"/>
            <a:ext cx="17628235" cy="8159750"/>
          </a:xfrm>
          <a:prstGeom prst="rect">
            <a:avLst/>
          </a:prstGeom>
          <a:noFill/>
          <a:ln>
            <a:noFill/>
          </a:ln>
        </p:spPr>
        <p:txBody>
          <a:bodyPr anchorCtr="0" anchor="t" bIns="0" lIns="0" spcFirstLastPara="1" rIns="0" wrap="square" tIns="12700">
            <a:spAutoFit/>
          </a:bodyPr>
          <a:lstStyle/>
          <a:p>
            <a:pPr indent="0" lvl="0" marL="138430" marR="130175" rtl="0" algn="ctr">
              <a:lnSpc>
                <a:spcPct val="115500"/>
              </a:lnSpc>
              <a:spcBef>
                <a:spcPts val="0"/>
              </a:spcBef>
              <a:spcAft>
                <a:spcPts val="0"/>
              </a:spcAft>
              <a:buNone/>
            </a:pPr>
            <a:r>
              <a:rPr lang="en-US" sz="3300">
                <a:solidFill>
                  <a:srgbClr val="FFFFFF"/>
                </a:solidFill>
                <a:latin typeface="Courier New"/>
                <a:ea typeface="Courier New"/>
                <a:cs typeface="Courier New"/>
                <a:sym typeface="Courier New"/>
              </a:rPr>
              <a:t>Basically, content-based filtering methods use an item profile (i.e.,   a set of discrete attributes and features) characterizing the item  within the system. To abstract the features of the items in the  system, an item presentation algorithm is applied. A widely used  algorithm is the tf–idf representation (also called vector space  representation). The system creates a content-based profile of users  based on a weighted vector of item features. The weights denote the  importance of each feature to the user and can be computed from  individually rated content vectors using a variety of techniques.</a:t>
            </a:r>
            <a:endParaRPr sz="3300">
              <a:latin typeface="Courier New"/>
              <a:ea typeface="Courier New"/>
              <a:cs typeface="Courier New"/>
              <a:sym typeface="Courier New"/>
            </a:endParaRPr>
          </a:p>
          <a:p>
            <a:pPr indent="0" lvl="0" marL="12700" marR="5080" rtl="0" algn="ctr">
              <a:lnSpc>
                <a:spcPct val="115500"/>
              </a:lnSpc>
              <a:spcBef>
                <a:spcPts val="0"/>
              </a:spcBef>
              <a:spcAft>
                <a:spcPts val="0"/>
              </a:spcAft>
              <a:buNone/>
            </a:pPr>
            <a:r>
              <a:rPr lang="en-US" sz="3300">
                <a:solidFill>
                  <a:srgbClr val="FFFFFF"/>
                </a:solidFill>
                <a:latin typeface="Courier New"/>
                <a:ea typeface="Courier New"/>
                <a:cs typeface="Courier New"/>
                <a:sym typeface="Courier New"/>
              </a:rPr>
              <a:t>Simple approaches use the average values of the rated item vector  while other sophisticated methods use machine learning techniques such  as Bayesian Classifiers, cluster analysis, decision trees, and  artificial neural networks in order to estimate the probability that  the user is going to like the item.</a:t>
            </a:r>
            <a:endParaRPr sz="3300">
              <a:latin typeface="Courier New"/>
              <a:ea typeface="Courier New"/>
              <a:cs typeface="Courier New"/>
              <a:sym typeface="Courier New"/>
            </a:endParaRPr>
          </a:p>
        </p:txBody>
      </p:sp>
      <p:sp>
        <p:nvSpPr>
          <p:cNvPr id="106" name="Google Shape;106;p16"/>
          <p:cNvSpPr txBox="1"/>
          <p:nvPr>
            <p:ph type="title"/>
          </p:nvPr>
        </p:nvSpPr>
        <p:spPr>
          <a:xfrm>
            <a:off x="6072144" y="274361"/>
            <a:ext cx="5429250"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ALGORITHM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5837052" y="274361"/>
            <a:ext cx="5899150"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CONCLUSION</a:t>
            </a:r>
            <a:endParaRPr/>
          </a:p>
        </p:txBody>
      </p:sp>
      <p:sp>
        <p:nvSpPr>
          <p:cNvPr id="112" name="Google Shape;112;p17"/>
          <p:cNvSpPr txBox="1"/>
          <p:nvPr/>
        </p:nvSpPr>
        <p:spPr>
          <a:xfrm>
            <a:off x="179437" y="1884156"/>
            <a:ext cx="17735550" cy="7254875"/>
          </a:xfrm>
          <a:prstGeom prst="rect">
            <a:avLst/>
          </a:prstGeom>
          <a:noFill/>
          <a:ln>
            <a:noFill/>
          </a:ln>
        </p:spPr>
        <p:txBody>
          <a:bodyPr anchorCtr="0" anchor="t" bIns="0" lIns="0" spcFirstLastPara="1" rIns="0" wrap="square" tIns="12050">
            <a:spAutoFit/>
          </a:bodyPr>
          <a:lstStyle/>
          <a:p>
            <a:pPr indent="0" lvl="0" marL="12065" marR="5080" rtl="0" algn="ctr">
              <a:lnSpc>
                <a:spcPct val="116599"/>
              </a:lnSpc>
              <a:spcBef>
                <a:spcPts val="0"/>
              </a:spcBef>
              <a:spcAft>
                <a:spcPts val="0"/>
              </a:spcAft>
              <a:buNone/>
            </a:pPr>
            <a:r>
              <a:rPr lang="en-US" sz="3700">
                <a:solidFill>
                  <a:srgbClr val="FFFFFF"/>
                </a:solidFill>
                <a:latin typeface="Arial"/>
                <a:ea typeface="Arial"/>
                <a:cs typeface="Arial"/>
                <a:sym typeface="Arial"/>
              </a:rPr>
              <a:t>Recommender Systems opens new opportunities of retrieving personalized in-  formation on the Internet. Recommendation Systems are the most popular type  of machine learning applications that are used in all sectors. They are an im-  provement over the traditional classification algorithms as they can take many  classes of input and provide similarity ranking based algorithms to provide the  user with accurate results. These recommendation systems have evolved over  time and have incorporated many advanced machine learning techniques to pro-  vide the users with the content that they want.. It also helps to alleviate the  problem of information overload which is a very common phenomenon with in-  formation retrieval systems and enables users to have access to products and  services which are not readily available to users on the system.</a:t>
            </a:r>
            <a:endParaRPr sz="37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6016518" y="147988"/>
            <a:ext cx="6254963" cy="10242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REFERENCES:-</a:t>
            </a:r>
            <a:endParaRPr/>
          </a:p>
        </p:txBody>
      </p:sp>
      <p:sp>
        <p:nvSpPr>
          <p:cNvPr id="118" name="Google Shape;118;p18"/>
          <p:cNvSpPr txBox="1"/>
          <p:nvPr/>
        </p:nvSpPr>
        <p:spPr>
          <a:xfrm>
            <a:off x="188959" y="2340269"/>
            <a:ext cx="17935575" cy="6788150"/>
          </a:xfrm>
          <a:prstGeom prst="rect">
            <a:avLst/>
          </a:prstGeom>
          <a:noFill/>
          <a:ln>
            <a:noFill/>
          </a:ln>
        </p:spPr>
        <p:txBody>
          <a:bodyPr anchorCtr="0" anchor="t" bIns="0" lIns="0" spcFirstLastPara="1" rIns="0" wrap="square" tIns="12050">
            <a:spAutoFit/>
          </a:bodyPr>
          <a:lstStyle/>
          <a:p>
            <a:pPr indent="-3175" lvl="0" marL="12065" marR="5080" rtl="0" algn="ctr">
              <a:lnSpc>
                <a:spcPct val="115300"/>
              </a:lnSpc>
              <a:spcBef>
                <a:spcPts val="0"/>
              </a:spcBef>
              <a:spcAft>
                <a:spcPts val="0"/>
              </a:spcAft>
              <a:buNone/>
            </a:pPr>
            <a:r>
              <a:rPr lang="en-US" sz="3850">
                <a:solidFill>
                  <a:srgbClr val="FFFFFF"/>
                </a:solidFill>
                <a:latin typeface="Courier New"/>
                <a:ea typeface="Courier New"/>
                <a:cs typeface="Courier New"/>
                <a:sym typeface="Courier New"/>
              </a:rPr>
              <a:t>https://</a:t>
            </a:r>
            <a:r>
              <a:rPr lang="en-US" sz="3850" u="sng">
                <a:solidFill>
                  <a:schemeClr val="hlink"/>
                </a:solidFill>
                <a:latin typeface="Courier New"/>
                <a:ea typeface="Courier New"/>
                <a:cs typeface="Courier New"/>
                <a:sym typeface="Courier New"/>
                <a:hlinkClick r:id="rId3"/>
              </a:rPr>
              <a:t>www.upwork.com/resources/what-is-content-based- </a:t>
            </a:r>
            <a:r>
              <a:rPr lang="en-US" sz="3850">
                <a:solidFill>
                  <a:srgbClr val="FFFFFF"/>
                </a:solidFill>
                <a:latin typeface="Courier New"/>
                <a:ea typeface="Courier New"/>
                <a:cs typeface="Courier New"/>
                <a:sym typeface="Courier New"/>
              </a:rPr>
              <a:t> filtering#:~:text=Content%2Dbased%20filtering%20is%20a,them%2  0to%20a%20user%20profile.  https://en.wikipedia.org/wiki/Recommender_system</a:t>
            </a:r>
            <a:endParaRPr sz="385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4700">
              <a:latin typeface="Courier New"/>
              <a:ea typeface="Courier New"/>
              <a:cs typeface="Courier New"/>
              <a:sym typeface="Courier New"/>
            </a:endParaRPr>
          </a:p>
          <a:p>
            <a:pPr indent="0" lvl="0" marL="3534409" marR="3529329" rtl="0" algn="ctr">
              <a:lnSpc>
                <a:spcPct val="115300"/>
              </a:lnSpc>
              <a:spcBef>
                <a:spcPts val="0"/>
              </a:spcBef>
              <a:spcAft>
                <a:spcPts val="0"/>
              </a:spcAft>
              <a:buNone/>
            </a:pPr>
            <a:r>
              <a:rPr lang="en-US" sz="3850">
                <a:solidFill>
                  <a:srgbClr val="FFFFFF"/>
                </a:solidFill>
                <a:latin typeface="Courier New"/>
                <a:ea typeface="Courier New"/>
                <a:cs typeface="Courier New"/>
                <a:sym typeface="Courier New"/>
              </a:rPr>
              <a:t>https://</a:t>
            </a:r>
            <a:r>
              <a:rPr lang="en-US" sz="3850" u="sng">
                <a:solidFill>
                  <a:schemeClr val="hlink"/>
                </a:solidFill>
                <a:latin typeface="Courier New"/>
                <a:ea typeface="Courier New"/>
                <a:cs typeface="Courier New"/>
                <a:sym typeface="Courier New"/>
                <a:hlinkClick r:id="rId4"/>
              </a:rPr>
              <a:t>www.youtube.com/watch? </a:t>
            </a:r>
            <a:r>
              <a:rPr lang="en-US" sz="3850">
                <a:solidFill>
                  <a:srgbClr val="FFFFFF"/>
                </a:solidFill>
                <a:latin typeface="Courier New"/>
                <a:ea typeface="Courier New"/>
                <a:cs typeface="Courier New"/>
                <a:sym typeface="Courier New"/>
              </a:rPr>
              <a:t> v=1xtrIEwY_zY&amp;t=2s&amp;ab_channel=CampusX</a:t>
            </a:r>
            <a:endParaRPr sz="385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4700">
              <a:latin typeface="Courier New"/>
              <a:ea typeface="Courier New"/>
              <a:cs typeface="Courier New"/>
              <a:sym typeface="Courier New"/>
            </a:endParaRPr>
          </a:p>
          <a:p>
            <a:pPr indent="0" lvl="0" marL="2506345" marR="2501900" rtl="0" algn="ctr">
              <a:lnSpc>
                <a:spcPct val="115300"/>
              </a:lnSpc>
              <a:spcBef>
                <a:spcPts val="0"/>
              </a:spcBef>
              <a:spcAft>
                <a:spcPts val="0"/>
              </a:spcAft>
              <a:buNone/>
            </a:pPr>
            <a:r>
              <a:rPr lang="en-US" sz="3850">
                <a:solidFill>
                  <a:srgbClr val="FFFFFF"/>
                </a:solidFill>
                <a:latin typeface="Courier New"/>
                <a:ea typeface="Courier New"/>
                <a:cs typeface="Courier New"/>
                <a:sym typeface="Courier New"/>
              </a:rPr>
              <a:t>https://developers.google.com/machine-  learning/recommendation/content-based/basics</a:t>
            </a:r>
            <a:endParaRPr sz="385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